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6"/>
  </p:notesMasterIdLst>
  <p:sldIdLst>
    <p:sldId id="256" r:id="rId5"/>
    <p:sldId id="259" r:id="rId6"/>
    <p:sldId id="263" r:id="rId7"/>
    <p:sldId id="290" r:id="rId8"/>
    <p:sldId id="300" r:id="rId9"/>
    <p:sldId id="291" r:id="rId10"/>
    <p:sldId id="358" r:id="rId11"/>
    <p:sldId id="269" r:id="rId12"/>
    <p:sldId id="359" r:id="rId13"/>
    <p:sldId id="349" r:id="rId14"/>
    <p:sldId id="348" r:id="rId15"/>
    <p:sldId id="367" r:id="rId16"/>
    <p:sldId id="368" r:id="rId17"/>
    <p:sldId id="347" r:id="rId18"/>
    <p:sldId id="369" r:id="rId19"/>
    <p:sldId id="383" r:id="rId20"/>
    <p:sldId id="350" r:id="rId21"/>
    <p:sldId id="377" r:id="rId22"/>
    <p:sldId id="380" r:id="rId23"/>
    <p:sldId id="384" r:id="rId24"/>
    <p:sldId id="370" r:id="rId25"/>
    <p:sldId id="371" r:id="rId26"/>
    <p:sldId id="381" r:id="rId27"/>
    <p:sldId id="373" r:id="rId28"/>
    <p:sldId id="378" r:id="rId29"/>
    <p:sldId id="379" r:id="rId30"/>
    <p:sldId id="361" r:id="rId31"/>
    <p:sldId id="360" r:id="rId32"/>
    <p:sldId id="385" r:id="rId33"/>
    <p:sldId id="351" r:id="rId34"/>
    <p:sldId id="363" r:id="rId35"/>
    <p:sldId id="362" r:id="rId36"/>
    <p:sldId id="364" r:id="rId37"/>
    <p:sldId id="365" r:id="rId38"/>
    <p:sldId id="366" r:id="rId39"/>
    <p:sldId id="355" r:id="rId40"/>
    <p:sldId id="356" r:id="rId41"/>
    <p:sldId id="382" r:id="rId42"/>
    <p:sldId id="307" r:id="rId43"/>
    <p:sldId id="334" r:id="rId44"/>
    <p:sldId id="34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13" autoAdjust="0"/>
    <p:restoredTop sz="94618"/>
  </p:normalViewPr>
  <p:slideViewPr>
    <p:cSldViewPr>
      <p:cViewPr varScale="1">
        <p:scale>
          <a:sx n="160" d="100"/>
          <a:sy n="160" d="100"/>
        </p:scale>
        <p:origin x="192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B1CC1-A826-A847-A44F-30D438E51C7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93CB9-6233-754C-9DA3-8BC5A77C3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420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94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61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72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93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32A1-AA6F-5F3A-1BFC-023A34D18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70ACD-7C9F-142A-5BBF-49B5DDCD7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56055-6BE4-973C-91AF-D401FC073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EB2DF-367D-E2CB-941B-54B8747ED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09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5E77-9067-AC23-F10B-6D475695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C11BE-925B-6ED9-FD0F-8A87BC44D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BADD1-1B96-3C3F-45C8-82FEA8EC9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E2397-D9DE-F1BD-7EC2-4FB0F3E8C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31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9B584-4268-05E1-9D4B-BF8A91C6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8ABAE-69F2-8DD4-3B0B-382F3BC15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5FF14-A808-27DE-E207-BFD631E71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151A7-5A08-8D8E-EEE8-656B23056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26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59DD-AF8A-5743-B33F-833D86B6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AA44A-1ED9-191C-9565-51F9B5FF0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5E45B-FEE1-0137-0918-1EFD6C0A3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F10A7-D435-071D-D19A-6D77D4E84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77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2DCC2-6171-1EFD-8820-DB09F212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5E806-BB9D-4F55-DE7A-CFB071884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9EB32-EFA6-E45F-388C-9043BE5C6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4947C-B183-F554-89EC-C0C7EB557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3CB9-6233-754C-9DA3-8BC5A77C3D6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93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534F4-30F1-4B28-2E50-678B3D304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A4637-A8FF-9F5A-7BC4-3FDC0D950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711D5-BDC8-C1E8-1576-5ED57CC84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7162A-E92C-3EAF-BC6A-FC48DAC2E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FB73C-A231-A689-E0F3-32827B8AE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13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74311-2DBC-7813-A7C2-01BA12EC3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B4779-E5A1-C928-7D23-A330DCF71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09CDE-79FC-FA90-63DE-89E216171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B0F62-2924-5F0F-2A0E-955A224C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7388D-A84A-CD86-7CC6-E033D6FF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2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ED50-0BFC-728C-9D49-0D5DCCC66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08ED0-8E7C-889E-E94D-A66FA7163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6AA10-0214-D3B8-F946-724892E26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61621-686F-4399-5159-166745B5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4404B-5CA2-A1E1-39EB-EDFB789F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1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0BEC-1E75-B086-28F8-F2B4120C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184C5-9265-A5A3-E144-37011FE4F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07AA2-79C4-16BA-53CB-0A51F68B1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26B55-0324-6AEA-0A4A-4D0694DB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3/26/25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8896F-7307-0DD6-3722-8BDA2859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BE70F-1FDB-E525-D70A-ED5F00EC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30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0FE3-0518-E42C-0B00-DA34A129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39AD9-FDB3-4571-1C62-41EFB87A1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F1FA9-523D-CD35-83AB-57B52C281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B4C2E7-E705-DD5C-203F-C4B0B572F3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E60AE7-1CED-F4BF-18E2-65C11F128A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34581D-FBC7-1579-DF39-9CBA45C5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3/26/25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D2D223-7115-5459-6AFD-198F6C1A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1992E9-27FA-8CFB-2744-7D747A6A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34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D627-4F07-14E4-F949-A66A15F55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852772-64C8-3DAA-3889-D6AB68528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3/26/25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7B9D5-05B2-F5EA-6246-F3A08B259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4F913-3372-26DE-A31C-E4958403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0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8046C-8481-BEAF-AB50-63AE9128A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3/26/25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97D4A8-D7FC-6BDF-75A7-14EA9569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0880A-7A6B-0D40-C540-E5DA1A76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2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3CACF-7EAF-2BC7-E0E0-290F4D5D1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86752-0F0E-A030-FD1D-117FFAC52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55F66-BC7A-E22F-099C-929F974AA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FE503-79CB-ABF8-772A-E0B0C2987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3/26/25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01B9F-0A90-CFB1-61BA-E07630E1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62443-7276-B190-6973-C892DF9E9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0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2ABF-B6A8-1562-3407-BE38C941C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2C7DD2-C134-E532-4671-55163EE8F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D21AC-2274-8C40-861B-A2DF6C9D8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9DB96-F55F-EB33-7DD2-62ADA925E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3/26/25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CC9D1-4E25-7ECF-E800-942B65EC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BCCC6-50C2-5C0A-6767-BAF58BFD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2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465FA-350F-C5F2-7B5E-7DDC6C6A6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CB422-5853-9A0F-E84F-982AF870B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70F7E-1E3A-7A9A-6EE1-D2F74040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B6320-F0AC-D75A-FF39-F2C6455C6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095FD-1D1E-5084-9C40-CBDA833B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34CFF-1BD6-C180-916E-7CAE22766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6D466-F706-9770-79B4-4E9F823B3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3FE74-B08B-974C-DD65-F135CA6E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77E9-5544-4AEA-B9E9-04E55BD818BA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C3FBA-8A07-86CD-8558-4C6D6432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6C860-0C2F-01A4-5231-98C94B5E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43808-3BE6-4A36-B0A5-778630D5B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3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9DA1B5-6F65-89BC-E450-932A6B25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39E13-E58D-C4F5-994B-79A0FC590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9A65C-8839-67ED-0A37-8CD613ACA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Helvetica" pitchFamily="2" charset="0"/>
              </a:defRPr>
            </a:lvl1pPr>
          </a:lstStyle>
          <a:p>
            <a:fld id="{425577E9-5544-4AEA-B9E9-04E55BD818BA}" type="datetimeFigureOut">
              <a:rPr lang="en-US" smtClean="0"/>
              <a:pPr/>
              <a:t>3/26/25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32406-D87E-39BB-2313-7374C2012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8B3D8-69D5-3617-9755-D4F3FEDEA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Helvetica" pitchFamily="2" charset="0"/>
              </a:defRPr>
            </a:lvl1pPr>
          </a:lstStyle>
          <a:p>
            <a:fld id="{95F43808-3BE6-4A36-B0A5-778630D5B92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4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41454C97-8995-AC7B-27AC-E1AB6C63A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262"/>
          <a:stretch/>
        </p:blipFill>
        <p:spPr>
          <a:xfrm>
            <a:off x="2060" y="431634"/>
            <a:ext cx="12189940" cy="128618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4315AD-32BB-5472-6640-5B1A41015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9921" y="2878128"/>
            <a:ext cx="9144000" cy="110174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6600" dirty="0">
                <a:cs typeface="Times New Roman"/>
              </a:rPr>
              <a:t>Design Project 2 </a:t>
            </a:r>
            <a:endParaRPr lang="en-US" sz="4800" dirty="0"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B9BCE2-3859-515B-55BD-D3BA9BF4C518}"/>
              </a:ext>
            </a:extLst>
          </p:cNvPr>
          <p:cNvSpPr txBox="1"/>
          <p:nvPr/>
        </p:nvSpPr>
        <p:spPr>
          <a:xfrm>
            <a:off x="3409435" y="480496"/>
            <a:ext cx="5373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Western New England University</a:t>
            </a:r>
          </a:p>
          <a:p>
            <a:pPr algn="ctr"/>
            <a:r>
              <a:rPr lang="en-US" sz="2000" dirty="0"/>
              <a:t>College of Engineering</a:t>
            </a:r>
          </a:p>
          <a:p>
            <a:pPr algn="ctr"/>
            <a:r>
              <a:rPr lang="en-US" sz="2000" dirty="0"/>
              <a:t>EE 456 RF &amp; mm-Wave Active Circuits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102CBE-18BD-B370-10BA-65BAF35B268F}"/>
              </a:ext>
            </a:extLst>
          </p:cNvPr>
          <p:cNvSpPr txBox="1"/>
          <p:nvPr/>
        </p:nvSpPr>
        <p:spPr>
          <a:xfrm>
            <a:off x="228600" y="757494"/>
            <a:ext cx="217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cs typeface="Times New Roman"/>
              </a:rPr>
              <a:t>Steven Placzek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C559A0-4D7D-E89D-7A3F-E16601CC96D1}"/>
              </a:ext>
            </a:extLst>
          </p:cNvPr>
          <p:cNvSpPr txBox="1"/>
          <p:nvPr/>
        </p:nvSpPr>
        <p:spPr>
          <a:xfrm>
            <a:off x="1398079" y="3979872"/>
            <a:ext cx="9395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Low-Noise Amplifier Matching Network Design</a:t>
            </a:r>
          </a:p>
        </p:txBody>
      </p:sp>
    </p:spTree>
    <p:extLst>
      <p:ext uri="{BB962C8B-B14F-4D97-AF65-F5344CB8AC3E}">
        <p14:creationId xmlns:p14="http://schemas.microsoft.com/office/powerpoint/2010/main" val="147794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AAFD5C-DCD7-47E5-ACEB-975A2D7B5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39296"/>
            <a:ext cx="7772400" cy="61794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0C8D1D-E48D-9662-8D0E-2430EDF7EB90}"/>
              </a:ext>
            </a:extLst>
          </p:cNvPr>
          <p:cNvSpPr txBox="1"/>
          <p:nvPr/>
        </p:nvSpPr>
        <p:spPr>
          <a:xfrm>
            <a:off x="9951218" y="0"/>
            <a:ext cx="2240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EE 456</a:t>
            </a:r>
          </a:p>
          <a:p>
            <a:pPr algn="ctr"/>
            <a:r>
              <a:rPr lang="en-US" sz="1200" dirty="0"/>
              <a:t>RF &amp; mm-Wave Active Circuits</a:t>
            </a:r>
          </a:p>
          <a:p>
            <a:pPr algn="ctr"/>
            <a:r>
              <a:rPr lang="en-US" sz="1200" dirty="0"/>
              <a:t>Design Project 2</a:t>
            </a:r>
          </a:p>
        </p:txBody>
      </p:sp>
    </p:spTree>
    <p:extLst>
      <p:ext uri="{BB962C8B-B14F-4D97-AF65-F5344CB8AC3E}">
        <p14:creationId xmlns:p14="http://schemas.microsoft.com/office/powerpoint/2010/main" val="694240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583A7-F82F-B9FF-9F77-0E757A4C4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4A7C33AB-4354-4D3B-33BC-906A33BE5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12189939" cy="6936259"/>
          </a:xfrm>
          <a:prstGeom prst="rect">
            <a:avLst/>
          </a:prstGeom>
        </p:spPr>
      </p:pic>
      <p:sp>
        <p:nvSpPr>
          <p:cNvPr id="5" name="Title 8">
            <a:extLst>
              <a:ext uri="{FF2B5EF4-FFF2-40B4-BE49-F238E27FC236}">
                <a16:creationId xmlns:a16="http://schemas.microsoft.com/office/drawing/2014/main" id="{6A2DC5DD-C84E-F373-C682-579CF109DABC}"/>
              </a:ext>
            </a:extLst>
          </p:cNvPr>
          <p:cNvSpPr txBox="1">
            <a:spLocks/>
          </p:cNvSpPr>
          <p:nvPr/>
        </p:nvSpPr>
        <p:spPr>
          <a:xfrm>
            <a:off x="1099327" y="923330"/>
            <a:ext cx="9991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Design Project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E92D5-B47D-B0D1-E4D4-AC2E04456FE4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C95B09-7E4B-2506-18C6-365D4DBE5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766" y="2042595"/>
            <a:ext cx="7772400" cy="411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53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76D4-5F25-6739-50D2-1E282B53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E8FB32-5395-2D14-CF86-715D4430D606}"/>
              </a:ext>
            </a:extLst>
          </p:cNvPr>
          <p:cNvSpPr txBox="1"/>
          <p:nvPr/>
        </p:nvSpPr>
        <p:spPr>
          <a:xfrm>
            <a:off x="2513592" y="90269"/>
            <a:ext cx="7164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Design and Simulation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47D17D5-8F1E-26F8-1169-2A68AFEBBC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323137"/>
                  </p:ext>
                </p:extLst>
              </p:nvPr>
            </p:nvGraphicFramePr>
            <p:xfrm>
              <a:off x="110572" y="873035"/>
              <a:ext cx="11893587" cy="566927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692849">
                      <a:extLst>
                        <a:ext uri="{9D8B030D-6E8A-4147-A177-3AD203B41FA5}">
                          <a16:colId xmlns:a16="http://schemas.microsoft.com/office/drawing/2014/main" val="599477424"/>
                        </a:ext>
                      </a:extLst>
                    </a:gridCol>
                    <a:gridCol w="2692849">
                      <a:extLst>
                        <a:ext uri="{9D8B030D-6E8A-4147-A177-3AD203B41FA5}">
                          <a16:colId xmlns:a16="http://schemas.microsoft.com/office/drawing/2014/main" val="135417678"/>
                        </a:ext>
                      </a:extLst>
                    </a:gridCol>
                    <a:gridCol w="2692849">
                      <a:extLst>
                        <a:ext uri="{9D8B030D-6E8A-4147-A177-3AD203B41FA5}">
                          <a16:colId xmlns:a16="http://schemas.microsoft.com/office/drawing/2014/main" val="2016626006"/>
                        </a:ext>
                      </a:extLst>
                    </a:gridCol>
                    <a:gridCol w="2692849">
                      <a:extLst>
                        <a:ext uri="{9D8B030D-6E8A-4147-A177-3AD203B41FA5}">
                          <a16:colId xmlns:a16="http://schemas.microsoft.com/office/drawing/2014/main" val="1511475522"/>
                        </a:ext>
                      </a:extLst>
                    </a:gridCol>
                    <a:gridCol w="1122191">
                      <a:extLst>
                        <a:ext uri="{9D8B030D-6E8A-4147-A177-3AD203B41FA5}">
                          <a16:colId xmlns:a16="http://schemas.microsoft.com/office/drawing/2014/main" val="1981541548"/>
                        </a:ext>
                      </a:extLst>
                    </a:gridCol>
                  </a:tblGrid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 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Design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Simulated </a:t>
                          </a:r>
                          <a:r>
                            <a:rPr lang="en-US" sz="2000" b="1" u="none" strike="noStrike" dirty="0" err="1">
                              <a:effectLst/>
                            </a:rPr>
                            <a:t>Matlab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Simulated ADS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Units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292161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( 0.4256 , -136.0227° )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-----------------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-----------------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32012630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( 0.2904 , +146.0865° )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-----------------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-----------------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184467"/>
                      </a:ext>
                    </a:extLst>
                  </a:tr>
                  <a:tr h="619112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𝐢𝐧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( 0.4742 , +123.6207° )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( 0.4688 , -10.5628° ) 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( 0.5638 , +112.7047° ) 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665035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𝐨𝐮𝐭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( 0.3642 , -168.6686° )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( 0.3555 , -25.0029° )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( 0.3642 , -168.6684° )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7019540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0.1350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0.3031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0.3031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6348433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-17.3944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-10.2445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-10.2445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33072097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1.4983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1.8879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1.8879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5651838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0.1630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0.1629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0.1629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---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534689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-15.7583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-15.7583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-15.7583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dB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28125817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1.3894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1.3894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1.3894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---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4664086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12.2599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12.1483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12.1483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dB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9799358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𝐝𝐁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0.5803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0.5803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0.5803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dB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1571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47D17D5-8F1E-26F8-1169-2A68AFEBBC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323137"/>
                  </p:ext>
                </p:extLst>
              </p:nvPr>
            </p:nvGraphicFramePr>
            <p:xfrm>
              <a:off x="110572" y="873035"/>
              <a:ext cx="11893587" cy="566927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692849">
                      <a:extLst>
                        <a:ext uri="{9D8B030D-6E8A-4147-A177-3AD203B41FA5}">
                          <a16:colId xmlns:a16="http://schemas.microsoft.com/office/drawing/2014/main" val="599477424"/>
                        </a:ext>
                      </a:extLst>
                    </a:gridCol>
                    <a:gridCol w="2692849">
                      <a:extLst>
                        <a:ext uri="{9D8B030D-6E8A-4147-A177-3AD203B41FA5}">
                          <a16:colId xmlns:a16="http://schemas.microsoft.com/office/drawing/2014/main" val="135417678"/>
                        </a:ext>
                      </a:extLst>
                    </a:gridCol>
                    <a:gridCol w="2692849">
                      <a:extLst>
                        <a:ext uri="{9D8B030D-6E8A-4147-A177-3AD203B41FA5}">
                          <a16:colId xmlns:a16="http://schemas.microsoft.com/office/drawing/2014/main" val="2016626006"/>
                        </a:ext>
                      </a:extLst>
                    </a:gridCol>
                    <a:gridCol w="2692849">
                      <a:extLst>
                        <a:ext uri="{9D8B030D-6E8A-4147-A177-3AD203B41FA5}">
                          <a16:colId xmlns:a16="http://schemas.microsoft.com/office/drawing/2014/main" val="1511475522"/>
                        </a:ext>
                      </a:extLst>
                    </a:gridCol>
                    <a:gridCol w="1122191">
                      <a:extLst>
                        <a:ext uri="{9D8B030D-6E8A-4147-A177-3AD203B41FA5}">
                          <a16:colId xmlns:a16="http://schemas.microsoft.com/office/drawing/2014/main" val="1981541548"/>
                        </a:ext>
                      </a:extLst>
                    </a:gridCol>
                  </a:tblGrid>
                  <a:tr h="4208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 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Design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Simulated </a:t>
                          </a:r>
                          <a:r>
                            <a:rPr lang="en-US" sz="2000" b="1" u="none" strike="noStrike" dirty="0" err="1">
                              <a:effectLst/>
                            </a:rPr>
                            <a:t>Matlab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Simulated ADS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Units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292161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42925" b="-1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( 0.4256 , -136.0227° )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-----------------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-----------------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32012630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6061" r="-342925" b="-106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( 0.2904 , +146.0865° )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-----------------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-----------------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184467"/>
                      </a:ext>
                    </a:extLst>
                  </a:tr>
                  <a:tr h="6191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6122" r="-342925" b="-6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( 0.4742 , +123.6207° )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( 0.4688 , -10.5628° ) 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( 0.5638 , +112.7047° ) 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665035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54545" r="-342925" b="-8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( 0.3642 , -168.6686° )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( 0.3555 , -25.0029° )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( 0.3642 , -168.6684° )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7019540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54545" r="-342925" b="-7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0.1350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0.3031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0.3031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6348433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54545" r="-342925" b="-6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-17.3944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-10.2445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-10.2445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33072097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732353" r="-342925" b="-5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1.4983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1.8879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1.8879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5651838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857576" r="-342925" b="-4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0.1630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0.1629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0.1629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---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534689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957576" r="-342925" b="-3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-15.7583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-15.7583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-15.7583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dB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28125817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57576" r="-342925" b="-2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1.3894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1.3894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1.3894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---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64664086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123529" r="-342925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12.2599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>
                              <a:effectLst/>
                            </a:rPr>
                            <a:t>12.1483</a:t>
                          </a:r>
                          <a:endParaRPr lang="en-US" sz="18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12.1483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dB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9799358"/>
                      </a:ext>
                    </a:extLst>
                  </a:tr>
                  <a:tr h="4208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260606" r="-342925" b="-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0.5803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0.5803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0.5803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u="none" strike="noStrike" dirty="0">
                              <a:effectLst/>
                            </a:rPr>
                            <a:t>dB</a:t>
                          </a:r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1571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B7BBE99-3AFD-5394-0F7A-30202534DB3B}"/>
              </a:ext>
            </a:extLst>
          </p:cNvPr>
          <p:cNvSpPr txBox="1"/>
          <p:nvPr/>
        </p:nvSpPr>
        <p:spPr>
          <a:xfrm>
            <a:off x="0" y="575017"/>
            <a:ext cx="882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B71BB-F477-3ED4-74DA-4B978324186F}"/>
              </a:ext>
            </a:extLst>
          </p:cNvPr>
          <p:cNvSpPr txBox="1"/>
          <p:nvPr/>
        </p:nvSpPr>
        <p:spPr>
          <a:xfrm>
            <a:off x="9951218" y="0"/>
            <a:ext cx="2240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EE 456</a:t>
            </a:r>
          </a:p>
          <a:p>
            <a:pPr algn="ctr"/>
            <a:r>
              <a:rPr lang="en-US" sz="1200" dirty="0"/>
              <a:t>RF &amp; mm-Wave Active Circuits</a:t>
            </a:r>
          </a:p>
          <a:p>
            <a:pPr algn="ctr"/>
            <a:r>
              <a:rPr lang="en-US" sz="1200" dirty="0"/>
              <a:t>Design Project 2</a:t>
            </a:r>
          </a:p>
        </p:txBody>
      </p:sp>
    </p:spTree>
    <p:extLst>
      <p:ext uri="{BB962C8B-B14F-4D97-AF65-F5344CB8AC3E}">
        <p14:creationId xmlns:p14="http://schemas.microsoft.com/office/powerpoint/2010/main" val="316972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69E9-1BB8-E2C0-A039-3E7A7046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2D1B804A-9D89-BAFD-0B78-CAEA9AA6B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5" name="Title 8">
            <a:extLst>
              <a:ext uri="{FF2B5EF4-FFF2-40B4-BE49-F238E27FC236}">
                <a16:creationId xmlns:a16="http://schemas.microsoft.com/office/drawing/2014/main" id="{78FC8CD7-0C15-5CF1-3285-4FC4B617F93D}"/>
              </a:ext>
            </a:extLst>
          </p:cNvPr>
          <p:cNvSpPr txBox="1">
            <a:spLocks/>
          </p:cNvSpPr>
          <p:nvPr/>
        </p:nvSpPr>
        <p:spPr>
          <a:xfrm>
            <a:off x="1263862" y="1308367"/>
            <a:ext cx="9991279" cy="767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LNA Design: Network Layout / Reflection Coefficients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C5DA9-34FC-F997-5D22-7F05941550B1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892780-C0F0-B068-87DC-A7AE26D75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385" y="2076126"/>
            <a:ext cx="6783229" cy="44298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C2B641-8F4F-6931-ED50-8F8B1235D419}"/>
              </a:ext>
            </a:extLst>
          </p:cNvPr>
          <p:cNvSpPr txBox="1"/>
          <p:nvPr/>
        </p:nvSpPr>
        <p:spPr>
          <a:xfrm>
            <a:off x="9718181" y="6630914"/>
            <a:ext cx="2473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Dr. Burke</a:t>
            </a:r>
          </a:p>
        </p:txBody>
      </p:sp>
    </p:spTree>
    <p:extLst>
      <p:ext uri="{BB962C8B-B14F-4D97-AF65-F5344CB8AC3E}">
        <p14:creationId xmlns:p14="http://schemas.microsoft.com/office/powerpoint/2010/main" val="225124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2F8CC-3C43-0FE9-1DAA-E92ECBD78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1DC73FF0-F168-5204-660C-75AC99F7B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12189939" cy="693625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15C50D2-32BB-BDB2-EAFB-65A8DD0C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837" y="237372"/>
            <a:ext cx="6514326" cy="9924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MAG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A2D84-0642-00B9-1EDE-D29D158AA5D7}"/>
              </a:ext>
            </a:extLst>
          </p:cNvPr>
          <p:cNvSpPr txBox="1"/>
          <p:nvPr/>
        </p:nvSpPr>
        <p:spPr>
          <a:xfrm>
            <a:off x="133223" y="66612"/>
            <a:ext cx="1998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EE 456</a:t>
            </a:r>
          </a:p>
          <a:p>
            <a:pPr algn="ctr"/>
            <a:r>
              <a:rPr lang="en-US" sz="1400" dirty="0"/>
              <a:t>RF &amp; </a:t>
            </a:r>
            <a:r>
              <a:rPr lang="en-US" sz="1400" dirty="0" err="1"/>
              <a:t>mmWave</a:t>
            </a:r>
            <a:r>
              <a:rPr lang="en-US" sz="1400" dirty="0"/>
              <a:t> Circuits</a:t>
            </a:r>
          </a:p>
          <a:p>
            <a:pPr algn="ctr"/>
            <a:r>
              <a:rPr lang="en-US" sz="1400" dirty="0"/>
              <a:t>Design Project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743D98E-1495-B233-8831-F07A86A4B7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024302"/>
                  </p:ext>
                </p:extLst>
              </p:nvPr>
            </p:nvGraphicFramePr>
            <p:xfrm>
              <a:off x="2442497" y="1685774"/>
              <a:ext cx="7304940" cy="4794543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843772">
                      <a:extLst>
                        <a:ext uri="{9D8B030D-6E8A-4147-A177-3AD203B41FA5}">
                          <a16:colId xmlns:a16="http://schemas.microsoft.com/office/drawing/2014/main" val="3567791144"/>
                        </a:ext>
                      </a:extLst>
                    </a:gridCol>
                    <a:gridCol w="2843772">
                      <a:extLst>
                        <a:ext uri="{9D8B030D-6E8A-4147-A177-3AD203B41FA5}">
                          <a16:colId xmlns:a16="http://schemas.microsoft.com/office/drawing/2014/main" val="2725625904"/>
                        </a:ext>
                      </a:extLst>
                    </a:gridCol>
                    <a:gridCol w="1617396">
                      <a:extLst>
                        <a:ext uri="{9D8B030D-6E8A-4147-A177-3AD203B41FA5}">
                          <a16:colId xmlns:a16="http://schemas.microsoft.com/office/drawing/2014/main" val="3749253800"/>
                        </a:ext>
                      </a:extLst>
                    </a:gridCol>
                  </a:tblGrid>
                  <a:tr h="399546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Design Parameter 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Mag Design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Units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2932756"/>
                      </a:ext>
                    </a:extLst>
                  </a:tr>
                  <a:tr h="39954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( 0.7088 , -114.5883° )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41987808"/>
                      </a:ext>
                    </a:extLst>
                  </a:tr>
                  <a:tr h="39954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( 0.5871 , +152.4980° )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5324265"/>
                      </a:ext>
                    </a:extLst>
                  </a:tr>
                  <a:tr h="39954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𝐢𝐧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( 0.7088 , +114.5883° )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30540721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𝐨𝐮𝐭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( 0.5871 , -152.4980° )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0593303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0.0000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1540252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-319.0497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dB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5804240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1.0000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00025572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0.0000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1027370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314.4523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7125791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1.0000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96833273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12.9211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3124194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𝐝𝐁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1.7920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87147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743D98E-1495-B233-8831-F07A86A4B7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024302"/>
                  </p:ext>
                </p:extLst>
              </p:nvPr>
            </p:nvGraphicFramePr>
            <p:xfrm>
              <a:off x="2442497" y="1685774"/>
              <a:ext cx="7304940" cy="4794543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843772">
                      <a:extLst>
                        <a:ext uri="{9D8B030D-6E8A-4147-A177-3AD203B41FA5}">
                          <a16:colId xmlns:a16="http://schemas.microsoft.com/office/drawing/2014/main" val="3567791144"/>
                        </a:ext>
                      </a:extLst>
                    </a:gridCol>
                    <a:gridCol w="2843772">
                      <a:extLst>
                        <a:ext uri="{9D8B030D-6E8A-4147-A177-3AD203B41FA5}">
                          <a16:colId xmlns:a16="http://schemas.microsoft.com/office/drawing/2014/main" val="2725625904"/>
                        </a:ext>
                      </a:extLst>
                    </a:gridCol>
                    <a:gridCol w="1617396">
                      <a:extLst>
                        <a:ext uri="{9D8B030D-6E8A-4147-A177-3AD203B41FA5}">
                          <a16:colId xmlns:a16="http://schemas.microsoft.com/office/drawing/2014/main" val="3749253800"/>
                        </a:ext>
                      </a:extLst>
                    </a:gridCol>
                  </a:tblGrid>
                  <a:tr h="399546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Design Parameter 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Mag Design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</a:rPr>
                            <a:t>Units</a:t>
                          </a:r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2932756"/>
                      </a:ext>
                    </a:extLst>
                  </a:tr>
                  <a:tr h="3995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109677" r="-157589" b="-10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( 0.7088 , -114.5883° )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41987808"/>
                      </a:ext>
                    </a:extLst>
                  </a:tr>
                  <a:tr h="3995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203125" r="-157589" b="-9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( 0.5871 , +152.4980° )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5324265"/>
                      </a:ext>
                    </a:extLst>
                  </a:tr>
                  <a:tr h="3995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312903" r="-157589" b="-8483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( 0.7088 , +114.5883° )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30540721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457143" r="-157589" b="-83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( 0.5871 , -152.4980° )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0593303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557143" r="-157589" b="-73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0.0000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1540252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634483" r="-157589" b="-6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-319.0497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dB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5804240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760714" r="-157589" b="-5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1.0000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---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00025572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860714" r="-157589" b="-4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0.0000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1027370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960714" r="-157589" b="-3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314.4523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7125791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1060714" r="-157589" b="-2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1.0000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96833273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1160714" r="-157589" b="-1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12.9211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3124194"/>
                      </a:ext>
                    </a:extLst>
                  </a:tr>
                  <a:tr h="355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1260714" r="-157589" b="-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>
                              <a:effectLst/>
                            </a:rPr>
                            <a:t>1.7920</a:t>
                          </a:r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87147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965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8616A-0284-A961-37E7-83F0970D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BBF0EFB2-E393-0B2D-6A75-DF347D882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89939" cy="693625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33F2381-255C-299D-F256-2396F3C5B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837" y="237372"/>
            <a:ext cx="6514326" cy="9924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MAG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AF2C3-9484-CD93-6A16-E36DE1DCA46B}"/>
              </a:ext>
            </a:extLst>
          </p:cNvPr>
          <p:cNvSpPr txBox="1"/>
          <p:nvPr/>
        </p:nvSpPr>
        <p:spPr>
          <a:xfrm>
            <a:off x="133223" y="66612"/>
            <a:ext cx="1998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EE 456</a:t>
            </a:r>
          </a:p>
          <a:p>
            <a:pPr algn="ctr"/>
            <a:r>
              <a:rPr lang="en-US" sz="1400" dirty="0"/>
              <a:t>RF &amp; </a:t>
            </a:r>
            <a:r>
              <a:rPr lang="en-US" sz="1400" dirty="0" err="1"/>
              <a:t>mmWave</a:t>
            </a:r>
            <a:r>
              <a:rPr lang="en-US" sz="1400" dirty="0"/>
              <a:t> Circuits</a:t>
            </a:r>
          </a:p>
          <a:p>
            <a:pPr algn="ctr"/>
            <a:r>
              <a:rPr lang="en-US" sz="1400" dirty="0"/>
              <a:t>Design Project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AB2140D-E673-E140-023D-989BC09990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2300308"/>
                  </p:ext>
                </p:extLst>
              </p:nvPr>
            </p:nvGraphicFramePr>
            <p:xfrm>
              <a:off x="423893" y="1332238"/>
              <a:ext cx="11160525" cy="5288384"/>
            </p:xfrm>
            <a:graphic>
              <a:graphicData uri="http://schemas.openxmlformats.org/drawingml/2006/table">
                <a:tbl>
                  <a:tblPr/>
                  <a:tblGrid>
                    <a:gridCol w="2166907">
                      <a:extLst>
                        <a:ext uri="{9D8B030D-6E8A-4147-A177-3AD203B41FA5}">
                          <a16:colId xmlns:a16="http://schemas.microsoft.com/office/drawing/2014/main" val="2436911207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4222042919"/>
                        </a:ext>
                      </a:extLst>
                    </a:gridCol>
                    <a:gridCol w="1549330">
                      <a:extLst>
                        <a:ext uri="{9D8B030D-6E8A-4147-A177-3AD203B41FA5}">
                          <a16:colId xmlns:a16="http://schemas.microsoft.com/office/drawing/2014/main" val="2648838779"/>
                        </a:ext>
                      </a:extLst>
                    </a:gridCol>
                    <a:gridCol w="794600">
                      <a:extLst>
                        <a:ext uri="{9D8B030D-6E8A-4147-A177-3AD203B41FA5}">
                          <a16:colId xmlns:a16="http://schemas.microsoft.com/office/drawing/2014/main" val="2736180921"/>
                        </a:ext>
                      </a:extLst>
                    </a:gridCol>
                    <a:gridCol w="3449288">
                      <a:extLst>
                        <a:ext uri="{9D8B030D-6E8A-4147-A177-3AD203B41FA5}">
                          <a16:colId xmlns:a16="http://schemas.microsoft.com/office/drawing/2014/main" val="1196776872"/>
                        </a:ext>
                      </a:extLst>
                    </a:gridCol>
                  </a:tblGrid>
                  <a:tr h="76011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Parameter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Mag Design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Specs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Units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- Pass / Fail 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49122011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0.7088</m:t>
                                    </m:r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∠+</m:t>
                                    </m:r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114.5883</m:t>
                                    </m:r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°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0034493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0.5871 </m:t>
                                    </m:r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∠</m:t>
                                    </m:r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−152.4980</m:t>
                                    </m:r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°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429693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𝐢𝐧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0.7088 </m:t>
                                    </m:r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∠+</m:t>
                                    </m:r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114.5883</m:t>
                                    </m:r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°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8978536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𝐨𝐮𝐭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0.5871 </m:t>
                                    </m:r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∠</m:t>
                                    </m:r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−152.4980</m:t>
                                    </m:r>
                                    <m:r>
                                      <a:rPr lang="en-US" sz="18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°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6776425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40452287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-319.0497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4690794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1.0000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≤1.5000</m:t>
                              </m:r>
                            </m:oMath>
                          </a14:m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8316761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5748695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314.4523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79128965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r>
                                <a:rPr lang="en-US" sz="1800" b="1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800" b="1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800" b="1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𝟓𝟎𝟎𝟎</m:t>
                              </m:r>
                            </m:oMath>
                          </a14:m>
                          <a:r>
                            <a:rPr lang="en-US" sz="18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Fail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08036836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12.9211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≥12.0000</m:t>
                              </m:r>
                            </m:oMath>
                          </a14:m>
                          <a:endParaRPr lang="en-US" sz="18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72184932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𝐝𝐁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1.7920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r>
                                <a:rPr lang="en-US" sz="1800" b="1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800" b="1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1800" b="1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800" b="1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𝟔𝟎𝟎𝟎</m:t>
                              </m:r>
                            </m:oMath>
                          </a14:m>
                          <a:r>
                            <a:rPr lang="en-US" sz="18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Fail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01494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AB2140D-E673-E140-023D-989BC09990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2300308"/>
                  </p:ext>
                </p:extLst>
              </p:nvPr>
            </p:nvGraphicFramePr>
            <p:xfrm>
              <a:off x="423893" y="1332238"/>
              <a:ext cx="11160525" cy="5288384"/>
            </p:xfrm>
            <a:graphic>
              <a:graphicData uri="http://schemas.openxmlformats.org/drawingml/2006/table">
                <a:tbl>
                  <a:tblPr/>
                  <a:tblGrid>
                    <a:gridCol w="2166907">
                      <a:extLst>
                        <a:ext uri="{9D8B030D-6E8A-4147-A177-3AD203B41FA5}">
                          <a16:colId xmlns:a16="http://schemas.microsoft.com/office/drawing/2014/main" val="2436911207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4222042919"/>
                        </a:ext>
                      </a:extLst>
                    </a:gridCol>
                    <a:gridCol w="1549330">
                      <a:extLst>
                        <a:ext uri="{9D8B030D-6E8A-4147-A177-3AD203B41FA5}">
                          <a16:colId xmlns:a16="http://schemas.microsoft.com/office/drawing/2014/main" val="2648838779"/>
                        </a:ext>
                      </a:extLst>
                    </a:gridCol>
                    <a:gridCol w="794600">
                      <a:extLst>
                        <a:ext uri="{9D8B030D-6E8A-4147-A177-3AD203B41FA5}">
                          <a16:colId xmlns:a16="http://schemas.microsoft.com/office/drawing/2014/main" val="2736180921"/>
                        </a:ext>
                      </a:extLst>
                    </a:gridCol>
                    <a:gridCol w="3449288">
                      <a:extLst>
                        <a:ext uri="{9D8B030D-6E8A-4147-A177-3AD203B41FA5}">
                          <a16:colId xmlns:a16="http://schemas.microsoft.com/office/drawing/2014/main" val="1196776872"/>
                        </a:ext>
                      </a:extLst>
                    </a:gridCol>
                  </a:tblGrid>
                  <a:tr h="76011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Parameter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Mag Design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Specs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Units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- Pass / Fail 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49122011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0000" r="-414620" b="-1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857" t="-200000" r="-181349" b="-1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0034493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00000" r="-414620" b="-10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857" t="-300000" r="-181349" b="-10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429693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00000" r="-414620" b="-9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857" t="-400000" r="-181349" b="-9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8978536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517241" r="-414620" b="-8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857" t="-517241" r="-181349" b="-8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6776425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596667" r="-414620" b="-7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40452287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696667" r="-414620" b="-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-319.0497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4690794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796667" r="-414620" b="-5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1.0000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6721" t="-796667" r="-274590" b="-5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8316761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896667" r="-414620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5748695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996667" r="-414620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314.4523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79128965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134483" r="-414620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6721" t="-1134483" r="-274590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Fail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08036836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193333" r="-414620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12.9211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6721" t="-1193333" r="-274590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72184932"/>
                      </a:ext>
                    </a:extLst>
                  </a:tr>
                  <a:tr h="3773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293333" r="-414620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1.7920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6721" t="-1293333" r="-274590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Fail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01494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0015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A838F-CADF-A6BD-3F86-D7B2A883F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CD20C533-FD44-289C-9F9B-E24EBD8E2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5F1EFB-35E2-6AEA-EBBF-F91084DAC1E1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AD028D-B877-45CB-63C9-6594B014DE10}"/>
                  </a:ext>
                </a:extLst>
              </p:cNvPr>
              <p:cNvSpPr txBox="1"/>
              <p:nvPr/>
            </p:nvSpPr>
            <p:spPr>
              <a:xfrm>
                <a:off x="4151077" y="237760"/>
                <a:ext cx="388984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5400" b="1" i="1" u="none" strike="noStrike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1" i="1" u="none" strike="noStrike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5400" b="1" i="0" u="none" strike="noStrike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𝐦𝐢𝐧</m:t>
                        </m:r>
                      </m:sub>
                    </m:sSub>
                  </m:oMath>
                </a14:m>
                <a:r>
                  <a:rPr lang="en-US" sz="5400" dirty="0"/>
                  <a:t> </a:t>
                </a:r>
                <a:r>
                  <a:rPr lang="en-US" sz="5400" b="1" dirty="0"/>
                  <a:t>Design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AD028D-B877-45CB-63C9-6594B014D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077" y="237760"/>
                <a:ext cx="3889843" cy="923330"/>
              </a:xfrm>
              <a:prstGeom prst="rect">
                <a:avLst/>
              </a:prstGeom>
              <a:blipFill>
                <a:blip r:embed="rId3"/>
                <a:stretch>
                  <a:fillRect l="-3571" t="-17568" r="-7792" b="-39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032E357-11D7-F646-BFA0-B3E396FF33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5557673"/>
                  </p:ext>
                </p:extLst>
              </p:nvPr>
            </p:nvGraphicFramePr>
            <p:xfrm>
              <a:off x="2983404" y="1282206"/>
              <a:ext cx="6225187" cy="533803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598500">
                      <a:extLst>
                        <a:ext uri="{9D8B030D-6E8A-4147-A177-3AD203B41FA5}">
                          <a16:colId xmlns:a16="http://schemas.microsoft.com/office/drawing/2014/main" val="3641173290"/>
                        </a:ext>
                      </a:extLst>
                    </a:gridCol>
                    <a:gridCol w="3645429">
                      <a:extLst>
                        <a:ext uri="{9D8B030D-6E8A-4147-A177-3AD203B41FA5}">
                          <a16:colId xmlns:a16="http://schemas.microsoft.com/office/drawing/2014/main" val="3769961242"/>
                        </a:ext>
                      </a:extLst>
                    </a:gridCol>
                    <a:gridCol w="981258">
                      <a:extLst>
                        <a:ext uri="{9D8B030D-6E8A-4147-A177-3AD203B41FA5}">
                          <a16:colId xmlns:a16="http://schemas.microsoft.com/office/drawing/2014/main" val="336520960"/>
                        </a:ext>
                      </a:extLst>
                    </a:gridCol>
                  </a:tblGrid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u="none" strike="noStrike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u="none" strike="noStrike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2000" b="1" i="0" u="none" strike="noStrike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𝐦𝐢𝐧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 Design</a:t>
                          </a:r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Units</a:t>
                          </a:r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87910779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0.3240 &lt; -165.1500 °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263537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0.2726 &lt; -177.7155 ° 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18402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𝐢𝐧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0.5392 &lt; +120.7417 ° 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64772951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𝐨𝐮𝐭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 0.2726 &lt; +177.7155 °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46626420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0.4325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7435858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-7.2798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134586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2.5244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0113410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0.0000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6035372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-300.0000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64965121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1.0000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459519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11.5032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0871430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𝐝𝐁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0.4450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0234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032E357-11D7-F646-BFA0-B3E396FF33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5557673"/>
                  </p:ext>
                </p:extLst>
              </p:nvPr>
            </p:nvGraphicFramePr>
            <p:xfrm>
              <a:off x="2983404" y="1282206"/>
              <a:ext cx="6225187" cy="533803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598500">
                      <a:extLst>
                        <a:ext uri="{9D8B030D-6E8A-4147-A177-3AD203B41FA5}">
                          <a16:colId xmlns:a16="http://schemas.microsoft.com/office/drawing/2014/main" val="3641173290"/>
                        </a:ext>
                      </a:extLst>
                    </a:gridCol>
                    <a:gridCol w="3645429">
                      <a:extLst>
                        <a:ext uri="{9D8B030D-6E8A-4147-A177-3AD203B41FA5}">
                          <a16:colId xmlns:a16="http://schemas.microsoft.com/office/drawing/2014/main" val="3769961242"/>
                        </a:ext>
                      </a:extLst>
                    </a:gridCol>
                    <a:gridCol w="981258">
                      <a:extLst>
                        <a:ext uri="{9D8B030D-6E8A-4147-A177-3AD203B41FA5}">
                          <a16:colId xmlns:a16="http://schemas.microsoft.com/office/drawing/2014/main" val="336520960"/>
                        </a:ext>
                      </a:extLst>
                    </a:gridCol>
                  </a:tblGrid>
                  <a:tr h="41061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3750" t="-3125" r="-27431" b="-124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Units</a:t>
                          </a:r>
                          <a:endParaRPr lang="en-US" sz="2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87910779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0000" r="-291270" b="-110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0.3240 &lt; -165.1500 °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263537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6250" r="-291270" b="-104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0.2726 &lt; -177.7155 ° 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18402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96970" r="-291270" b="-9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0.5392 &lt; +120.7417 ° 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64772951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09375" r="-291270" b="-8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 0.2726 &lt; +177.7155 °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46626420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93939" r="-291270" b="-7121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0.4325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7435858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612500" r="-291270" b="-634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-7.2798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134586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690909" r="-291270" b="-5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2.5244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0113410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815625" r="-291270" b="-4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0.0000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6035372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887879" r="-291270" b="-3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-300.0000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64965121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18750" r="-291270" b="-2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1.0000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---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459519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84848" r="-291270" b="-1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11.5032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0871430"/>
                      </a:ext>
                    </a:extLst>
                  </a:tr>
                  <a:tr h="4106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221875" r="-29127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0.4450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dB</a:t>
                          </a:r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0234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9701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5267-D963-84AB-F54D-CA9A348B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B95C4A72-EDFD-ACE3-5A0D-D2EF88077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11128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0878D9-8699-783A-2B05-7D09CEC4382E}"/>
              </a:ext>
            </a:extLst>
          </p:cNvPr>
          <p:cNvSpPr txBox="1"/>
          <p:nvPr/>
        </p:nvSpPr>
        <p:spPr>
          <a:xfrm>
            <a:off x="96889" y="35351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FD333B-990E-6984-251B-4812E0E149FD}"/>
                  </a:ext>
                </a:extLst>
              </p:cNvPr>
              <p:cNvSpPr txBox="1"/>
              <p:nvPr/>
            </p:nvSpPr>
            <p:spPr>
              <a:xfrm>
                <a:off x="4284619" y="142083"/>
                <a:ext cx="391549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5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54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𝐦𝐢𝐧</m:t>
                        </m:r>
                      </m:sub>
                    </m:sSub>
                    <m:r>
                      <a:rPr lang="en-US" sz="5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5400" b="1" dirty="0"/>
                  <a:t>Design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FD333B-990E-6984-251B-4812E0E14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619" y="142083"/>
                <a:ext cx="3915492" cy="923330"/>
              </a:xfrm>
              <a:prstGeom prst="rect">
                <a:avLst/>
              </a:prstGeom>
              <a:blipFill>
                <a:blip r:embed="rId3"/>
                <a:stretch>
                  <a:fillRect l="-3560" t="-17808" r="-7443" b="-39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B2480F4-D669-0994-5B8B-34221B4435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3845855"/>
                  </p:ext>
                </p:extLst>
              </p:nvPr>
            </p:nvGraphicFramePr>
            <p:xfrm>
              <a:off x="753294" y="1489685"/>
              <a:ext cx="10978142" cy="5019300"/>
            </p:xfrm>
            <a:graphic>
              <a:graphicData uri="http://schemas.openxmlformats.org/drawingml/2006/table">
                <a:tbl>
                  <a:tblPr/>
                  <a:tblGrid>
                    <a:gridCol w="2152151">
                      <a:extLst>
                        <a:ext uri="{9D8B030D-6E8A-4147-A177-3AD203B41FA5}">
                          <a16:colId xmlns:a16="http://schemas.microsoft.com/office/drawing/2014/main" val="667143933"/>
                        </a:ext>
                      </a:extLst>
                    </a:gridCol>
                    <a:gridCol w="2608667">
                      <a:extLst>
                        <a:ext uri="{9D8B030D-6E8A-4147-A177-3AD203B41FA5}">
                          <a16:colId xmlns:a16="http://schemas.microsoft.com/office/drawing/2014/main" val="4128319403"/>
                        </a:ext>
                      </a:extLst>
                    </a:gridCol>
                    <a:gridCol w="1630417">
                      <a:extLst>
                        <a:ext uri="{9D8B030D-6E8A-4147-A177-3AD203B41FA5}">
                          <a16:colId xmlns:a16="http://schemas.microsoft.com/office/drawing/2014/main" val="57794959"/>
                        </a:ext>
                      </a:extLst>
                    </a:gridCol>
                    <a:gridCol w="717384">
                      <a:extLst>
                        <a:ext uri="{9D8B030D-6E8A-4147-A177-3AD203B41FA5}">
                          <a16:colId xmlns:a16="http://schemas.microsoft.com/office/drawing/2014/main" val="457130512"/>
                        </a:ext>
                      </a:extLst>
                    </a:gridCol>
                    <a:gridCol w="3869523">
                      <a:extLst>
                        <a:ext uri="{9D8B030D-6E8A-4147-A177-3AD203B41FA5}">
                          <a16:colId xmlns:a16="http://schemas.microsoft.com/office/drawing/2014/main" val="3294670449"/>
                        </a:ext>
                      </a:extLst>
                    </a:gridCol>
                  </a:tblGrid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Parameter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2000" b="1" i="0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𝐦𝐢𝐧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 Design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Specs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Units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- Pass / Fail 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1022160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( 0.3240 , -165.1500° )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4022644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( 0.2726 , -177.7155° ) 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0944067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𝐢𝐧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( 0.5392 , +120.7417° ) 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61832430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𝐨𝐮𝐭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( 0.2726 , +177.7155° )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45690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0.4325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3032662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-7.2798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4430861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2.5244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≤1.5000</m:t>
                              </m:r>
                            </m:oMath>
                          </a14:m>
                          <a:endParaRPr lang="en-US" sz="1800" b="0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Fail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9969107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4189865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-300.0000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93421303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≤1.5000</m:t>
                              </m:r>
                            </m:oMath>
                          </a14:m>
                          <a:r>
                            <a:rPr lang="en-US" sz="1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Fail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5606681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11.5032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≥12.0000</m:t>
                              </m:r>
                            </m:oMath>
                          </a14:m>
                          <a:endParaRPr lang="en-US" sz="1800" b="0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Fail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9092162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𝐝𝐁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0.4450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≤0.6000</m:t>
                              </m:r>
                            </m:oMath>
                          </a14:m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342671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B2480F4-D669-0994-5B8B-34221B4435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3845855"/>
                  </p:ext>
                </p:extLst>
              </p:nvPr>
            </p:nvGraphicFramePr>
            <p:xfrm>
              <a:off x="753294" y="1489685"/>
              <a:ext cx="10978142" cy="5019300"/>
            </p:xfrm>
            <a:graphic>
              <a:graphicData uri="http://schemas.openxmlformats.org/drawingml/2006/table">
                <a:tbl>
                  <a:tblPr/>
                  <a:tblGrid>
                    <a:gridCol w="2152151">
                      <a:extLst>
                        <a:ext uri="{9D8B030D-6E8A-4147-A177-3AD203B41FA5}">
                          <a16:colId xmlns:a16="http://schemas.microsoft.com/office/drawing/2014/main" val="667143933"/>
                        </a:ext>
                      </a:extLst>
                    </a:gridCol>
                    <a:gridCol w="2608667">
                      <a:extLst>
                        <a:ext uri="{9D8B030D-6E8A-4147-A177-3AD203B41FA5}">
                          <a16:colId xmlns:a16="http://schemas.microsoft.com/office/drawing/2014/main" val="4128319403"/>
                        </a:ext>
                      </a:extLst>
                    </a:gridCol>
                    <a:gridCol w="1630417">
                      <a:extLst>
                        <a:ext uri="{9D8B030D-6E8A-4147-A177-3AD203B41FA5}">
                          <a16:colId xmlns:a16="http://schemas.microsoft.com/office/drawing/2014/main" val="57794959"/>
                        </a:ext>
                      </a:extLst>
                    </a:gridCol>
                    <a:gridCol w="717384">
                      <a:extLst>
                        <a:ext uri="{9D8B030D-6E8A-4147-A177-3AD203B41FA5}">
                          <a16:colId xmlns:a16="http://schemas.microsoft.com/office/drawing/2014/main" val="457130512"/>
                        </a:ext>
                      </a:extLst>
                    </a:gridCol>
                    <a:gridCol w="3869523">
                      <a:extLst>
                        <a:ext uri="{9D8B030D-6E8A-4147-A177-3AD203B41FA5}">
                          <a16:colId xmlns:a16="http://schemas.microsoft.com/office/drawing/2014/main" val="3294670449"/>
                        </a:ext>
                      </a:extLst>
                    </a:gridCol>
                  </a:tblGrid>
                  <a:tr h="3861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Parameter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2927" t="-23333" r="-239512" b="-12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Specs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Units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- Pass / Fail 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1022160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19355" r="-409412" b="-1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( 0.3240 , -165.1500° )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4022644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26667" r="-409412" b="-10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( 0.2726 , -177.7155° ) 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0944067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16129" r="-409412" b="-90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( 0.5392 , +120.7417° ) 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61832430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30000" r="-409412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( 0.2726 , +177.7155° )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45690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512903" r="-409412" b="-7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0.4325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3032662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633333" r="-409412" b="-6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-7.2798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4430861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709677" r="-409412" b="-5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2.5244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0698" t="-709677" r="-280620" b="-5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Fail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9969107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836667" r="-409412" b="-4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4189865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906452" r="-409412" b="-3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-300.0000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93421303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40000" r="-40941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1.0000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0698" t="-1040000" r="-28062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---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Fail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5606681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103226" r="-409412" b="-1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11.5032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0698" t="-1103226" r="-280620" b="-1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Fail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9092162"/>
                      </a:ext>
                    </a:extLst>
                  </a:tr>
                  <a:tr h="386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243333" r="-409412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0.4450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0698" t="-1243333" r="-280620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8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342671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63431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70971-052E-C87F-FFFC-4C96FF5D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2660FBEB-AE1E-5BAA-14F6-0790EDED5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4CC95A-54F9-2423-1E9E-5F3B2F3A7A8A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292D36-9AB3-98B9-32FA-FE0108585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5" t="5687" r="13726" b="6874"/>
          <a:stretch/>
        </p:blipFill>
        <p:spPr>
          <a:xfrm>
            <a:off x="152400" y="1315748"/>
            <a:ext cx="5640105" cy="5489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B7E577-3D9E-CAC5-08AB-A8861AAE8F32}"/>
                  </a:ext>
                </a:extLst>
              </p:cNvPr>
              <p:cNvSpPr txBox="1"/>
              <p:nvPr/>
            </p:nvSpPr>
            <p:spPr>
              <a:xfrm>
                <a:off x="6159826" y="2406300"/>
                <a:ext cx="5640105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Constant Resistance Circle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u="none" strike="noStrike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u="none" strike="noStrike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sz="2800" b="1" i="0" u="none" strike="noStrike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sub>
                    </m:sSub>
                  </m:oMath>
                </a14:m>
                <a:r>
                  <a:rPr lang="en-US" sz="2800" dirty="0"/>
                  <a:t>, its point of intersection with the constant conductance circle was used to determine the length of the transmission line between the amp and the stub in the Input Matching Network.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B7E577-3D9E-CAC5-08AB-A8861AAE8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826" y="2406300"/>
                <a:ext cx="5640105" cy="3108543"/>
              </a:xfrm>
              <a:prstGeom prst="rect">
                <a:avLst/>
              </a:prstGeom>
              <a:blipFill>
                <a:blip r:embed="rId4"/>
                <a:stretch>
                  <a:fillRect l="-2018" t="-2033" r="-2242" b="-4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CBFBB42-18B4-F856-173E-637168A59687}"/>
              </a:ext>
            </a:extLst>
          </p:cNvPr>
          <p:cNvSpPr txBox="1"/>
          <p:nvPr/>
        </p:nvSpPr>
        <p:spPr>
          <a:xfrm>
            <a:off x="5127933" y="461665"/>
            <a:ext cx="2007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IMN Design</a:t>
            </a:r>
          </a:p>
        </p:txBody>
      </p:sp>
    </p:spTree>
    <p:extLst>
      <p:ext uri="{BB962C8B-B14F-4D97-AF65-F5344CB8AC3E}">
        <p14:creationId xmlns:p14="http://schemas.microsoft.com/office/powerpoint/2010/main" val="188812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24F5D-EF9E-2997-EDAA-EC288EB8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0286F6B1-88C7-ECE7-5F84-9A0EE82CB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F0B35A-364F-2C0E-76D5-E44241706D71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EF8837-FF24-3E93-8814-1FBB1ACEC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524000"/>
            <a:ext cx="5791200" cy="50908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05B998-0A13-D4CC-ADFB-F9FA957DE7DC}"/>
              </a:ext>
            </a:extLst>
          </p:cNvPr>
          <p:cNvSpPr txBox="1"/>
          <p:nvPr/>
        </p:nvSpPr>
        <p:spPr>
          <a:xfrm>
            <a:off x="2590800" y="1217199"/>
            <a:ext cx="724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Un-Matched Amplifier Input/Output Stability, Ga, &amp; Noise Figure Circles</a:t>
            </a:r>
          </a:p>
        </p:txBody>
      </p:sp>
    </p:spTree>
    <p:extLst>
      <p:ext uri="{BB962C8B-B14F-4D97-AF65-F5344CB8AC3E}">
        <p14:creationId xmlns:p14="http://schemas.microsoft.com/office/powerpoint/2010/main" val="3134139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86D0C-B896-F731-B969-A3C7EA206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989E1CE1-6E95-EF51-A2E7-ED0B2C253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08F9B8-99DD-6C1E-78C1-091FAB1423A2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974FF-435A-33B4-163B-BAE2A5F43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3118313" y="-1"/>
            <a:ext cx="5955374" cy="693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40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966BB-0425-BEAF-58C5-044017E60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F1C8F9F7-51CA-AA9B-68F2-5796904C2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382E33-CB77-58FB-544B-E9DF56EFB051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71F1EE-C83F-BC1D-DE2E-83444430C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3132859" y="-22188"/>
            <a:ext cx="5926282" cy="690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94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B87FD-AD9A-D28F-F7B7-6A408883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46C172E5-5F54-4BA7-B876-61FAC5552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77" y="0"/>
            <a:ext cx="12234578" cy="69616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83EF16-8470-C82D-6A26-4D04B58483D4}"/>
              </a:ext>
            </a:extLst>
          </p:cNvPr>
          <p:cNvSpPr txBox="1"/>
          <p:nvPr/>
        </p:nvSpPr>
        <p:spPr>
          <a:xfrm>
            <a:off x="152400" y="7620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20028A2-C11E-B366-D46B-699F32E9B0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6820077"/>
                  </p:ext>
                </p:extLst>
              </p:nvPr>
            </p:nvGraphicFramePr>
            <p:xfrm>
              <a:off x="152400" y="1340354"/>
              <a:ext cx="11887200" cy="5516875"/>
            </p:xfrm>
            <a:graphic>
              <a:graphicData uri="http://schemas.openxmlformats.org/drawingml/2006/table">
                <a:tbl>
                  <a:tblPr/>
                  <a:tblGrid>
                    <a:gridCol w="2377440">
                      <a:extLst>
                        <a:ext uri="{9D8B030D-6E8A-4147-A177-3AD203B41FA5}">
                          <a16:colId xmlns:a16="http://schemas.microsoft.com/office/drawing/2014/main" val="4035509813"/>
                        </a:ext>
                      </a:extLst>
                    </a:gridCol>
                    <a:gridCol w="2956560">
                      <a:extLst>
                        <a:ext uri="{9D8B030D-6E8A-4147-A177-3AD203B41FA5}">
                          <a16:colId xmlns:a16="http://schemas.microsoft.com/office/drawing/2014/main" val="2733268771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2472337026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322908236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769819149"/>
                        </a:ext>
                      </a:extLst>
                    </a:gridCol>
                  </a:tblGrid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Parameter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Spec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>
                              <a:effectLst/>
                              <a:latin typeface="Calibri" panose="020F0502020204030204" pitchFamily="34" charset="0"/>
                            </a:rPr>
                            <a:t>Units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- Pass / Fail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1698152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( 0.4264 , -135.9051°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654612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( 0.4982, +157.5665°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1269991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𝐢𝐧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( 0.6627, +116.3974°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850499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𝐨𝐮𝐭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( 0.4982 , -157.5655°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82188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0.1173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127905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-18.6120  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3064947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1.2658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≤1.5000</m:t>
                              </m:r>
                            </m:oMath>
                          </a14:m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231055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0.0000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04863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-300.0000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461197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1.0000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≤1.5000</m:t>
                              </m:r>
                            </m:oMath>
                          </a14:m>
                          <a:r>
                            <a:rPr lang="en-US" sz="20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0115724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12.8123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≥12.0000</m:t>
                              </m:r>
                            </m:oMath>
                          </a14:m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4665160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𝐝𝐁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1.1433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r>
                                <a:rPr lang="en-US" sz="2000" b="1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000" b="1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1" u="none" strike="noStrike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𝟔𝟎𝟎𝟎</m:t>
                              </m:r>
                            </m:oMath>
                          </a14:m>
                          <a:r>
                            <a:rPr lang="en-US" sz="20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FAIL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2310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20028A2-C11E-B366-D46B-699F32E9B0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6820077"/>
                  </p:ext>
                </p:extLst>
              </p:nvPr>
            </p:nvGraphicFramePr>
            <p:xfrm>
              <a:off x="152400" y="1340354"/>
              <a:ext cx="11887200" cy="5516875"/>
            </p:xfrm>
            <a:graphic>
              <a:graphicData uri="http://schemas.openxmlformats.org/drawingml/2006/table">
                <a:tbl>
                  <a:tblPr/>
                  <a:tblGrid>
                    <a:gridCol w="2377440">
                      <a:extLst>
                        <a:ext uri="{9D8B030D-6E8A-4147-A177-3AD203B41FA5}">
                          <a16:colId xmlns:a16="http://schemas.microsoft.com/office/drawing/2014/main" val="4035509813"/>
                        </a:ext>
                      </a:extLst>
                    </a:gridCol>
                    <a:gridCol w="2956560">
                      <a:extLst>
                        <a:ext uri="{9D8B030D-6E8A-4147-A177-3AD203B41FA5}">
                          <a16:colId xmlns:a16="http://schemas.microsoft.com/office/drawing/2014/main" val="2733268771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2472337026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322908236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769819149"/>
                        </a:ext>
                      </a:extLst>
                    </a:gridCol>
                  </a:tblGrid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Parameter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Spec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>
                              <a:effectLst/>
                              <a:latin typeface="Calibri" panose="020F0502020204030204" pitchFamily="34" charset="0"/>
                            </a:rPr>
                            <a:t>Units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- Pass / Fail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1698152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111765" r="-401604" b="-1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( 0.4264 , -135.9051°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654612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218182" r="-401604" b="-1039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( 0.4982, +157.5665°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1269991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308824" r="-401604" b="-9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( 0.6627, +116.3974°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850499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421212" r="-401604" b="-8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( 0.4982 , -157.5655°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82188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505882" r="-401604" b="-7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0.1173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127905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624242" r="-401604" b="-6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-18.6120  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3064947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702941" r="-401604" b="-5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1.2658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479" t="-702941" r="-264789" b="-5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231055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827273" r="-401604" b="-430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0.0000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04863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900000" r="-401604" b="-3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-300.0000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461197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1030303" r="-401604" b="-2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1.0000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479" t="-1030303" r="-264789" b="-2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0115724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1097059" r="-401604" b="-1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12.8123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479" t="-1097059" r="-264789" b="-1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4665160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1233333" r="-401604" b="-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1.1433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479" t="-1233333" r="-264789" b="-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FAIL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2310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9F8CE29-F603-FF03-0CEE-DA45FC59E2A3}"/>
              </a:ext>
            </a:extLst>
          </p:cNvPr>
          <p:cNvSpPr txBox="1"/>
          <p:nvPr/>
        </p:nvSpPr>
        <p:spPr>
          <a:xfrm>
            <a:off x="4656909" y="208512"/>
            <a:ext cx="2878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Design 1</a:t>
            </a:r>
          </a:p>
        </p:txBody>
      </p:sp>
    </p:spTree>
    <p:extLst>
      <p:ext uri="{BB962C8B-B14F-4D97-AF65-F5344CB8AC3E}">
        <p14:creationId xmlns:p14="http://schemas.microsoft.com/office/powerpoint/2010/main" val="1217828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3933C-E9EF-BDDA-DDE8-A539B0F77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EEB03593-6245-2755-EBE9-B9C327F71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E0F49C-64FD-CF5B-5C33-7923AB32AA0D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E82DBC-EC1A-32E7-D832-07CB61600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3" t="13333" r="6863" b="21111"/>
          <a:stretch/>
        </p:blipFill>
        <p:spPr>
          <a:xfrm>
            <a:off x="2933700" y="721080"/>
            <a:ext cx="6324600" cy="62191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078CCB-1B33-9ACC-BACB-601627F45BCD}"/>
              </a:ext>
            </a:extLst>
          </p:cNvPr>
          <p:cNvSpPr txBox="1"/>
          <p:nvPr/>
        </p:nvSpPr>
        <p:spPr>
          <a:xfrm>
            <a:off x="2547781" y="721080"/>
            <a:ext cx="1046212" cy="7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BC3CFF-8EF9-0969-FF08-0272AFB6E3DF}"/>
              </a:ext>
            </a:extLst>
          </p:cNvPr>
          <p:cNvSpPr txBox="1"/>
          <p:nvPr/>
        </p:nvSpPr>
        <p:spPr>
          <a:xfrm>
            <a:off x="8229601" y="721080"/>
            <a:ext cx="1414617" cy="7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5DFAFB-9976-46EC-6D8C-E2F117C11AEB}"/>
              </a:ext>
            </a:extLst>
          </p:cNvPr>
          <p:cNvSpPr txBox="1"/>
          <p:nvPr/>
        </p:nvSpPr>
        <p:spPr>
          <a:xfrm>
            <a:off x="4162025" y="174178"/>
            <a:ext cx="859760" cy="7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261817-6416-E8C9-F228-C3AA02012B4A}"/>
              </a:ext>
            </a:extLst>
          </p:cNvPr>
          <p:cNvSpPr txBox="1"/>
          <p:nvPr/>
        </p:nvSpPr>
        <p:spPr>
          <a:xfrm>
            <a:off x="7799722" y="559970"/>
            <a:ext cx="859760" cy="7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A9C51A-51F2-05D3-C8EE-C2F688650284}"/>
              </a:ext>
            </a:extLst>
          </p:cNvPr>
          <p:cNvSpPr txBox="1"/>
          <p:nvPr/>
        </p:nvSpPr>
        <p:spPr>
          <a:xfrm>
            <a:off x="3539186" y="390850"/>
            <a:ext cx="859760" cy="7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29B8B6-136C-7ECD-5DC7-2EFBFE7759A8}"/>
                  </a:ext>
                </a:extLst>
              </p:cNvPr>
              <p:cNvSpPr txBox="1"/>
              <p:nvPr/>
            </p:nvSpPr>
            <p:spPr>
              <a:xfrm>
                <a:off x="3696605" y="219811"/>
                <a:ext cx="4798790" cy="5433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=0.2904 ∠+146.0865 °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29B8B6-136C-7ECD-5DC7-2EFBFE775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605" y="219811"/>
                <a:ext cx="4798790" cy="543354"/>
              </a:xfrm>
              <a:prstGeom prst="rect">
                <a:avLst/>
              </a:prstGeom>
              <a:blipFill>
                <a:blip r:embed="rId4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179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BB21-52B5-654B-603C-480E6301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824A02B-D9D8-03BB-9759-4081A2475F99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8B1FF3-8900-D9C3-97C6-BAD1E0D10E53}"/>
              </a:ext>
            </a:extLst>
          </p:cNvPr>
          <p:cNvSpPr txBox="1"/>
          <p:nvPr/>
        </p:nvSpPr>
        <p:spPr>
          <a:xfrm>
            <a:off x="2547781" y="721080"/>
            <a:ext cx="1046212" cy="7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AE58F6-9F96-26C7-48C7-AB0FAEA79266}"/>
              </a:ext>
            </a:extLst>
          </p:cNvPr>
          <p:cNvSpPr txBox="1"/>
          <p:nvPr/>
        </p:nvSpPr>
        <p:spPr>
          <a:xfrm>
            <a:off x="8229601" y="721080"/>
            <a:ext cx="1414617" cy="7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A02237-8539-993C-72AD-E35CD9642A10}"/>
              </a:ext>
            </a:extLst>
          </p:cNvPr>
          <p:cNvSpPr txBox="1"/>
          <p:nvPr/>
        </p:nvSpPr>
        <p:spPr>
          <a:xfrm>
            <a:off x="4162025" y="174178"/>
            <a:ext cx="859760" cy="7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0C7873-9850-F552-834E-BD7B5A9F24FB}"/>
              </a:ext>
            </a:extLst>
          </p:cNvPr>
          <p:cNvSpPr txBox="1"/>
          <p:nvPr/>
        </p:nvSpPr>
        <p:spPr>
          <a:xfrm>
            <a:off x="7799722" y="559970"/>
            <a:ext cx="859760" cy="7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155B78-8706-0141-655F-F9EDF2CBF48E}"/>
              </a:ext>
            </a:extLst>
          </p:cNvPr>
          <p:cNvSpPr txBox="1"/>
          <p:nvPr/>
        </p:nvSpPr>
        <p:spPr>
          <a:xfrm>
            <a:off x="3539186" y="390850"/>
            <a:ext cx="859760" cy="72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E8B86-AC49-7CD0-D0A4-36165CD71E0C}"/>
              </a:ext>
            </a:extLst>
          </p:cNvPr>
          <p:cNvSpPr txBox="1"/>
          <p:nvPr/>
        </p:nvSpPr>
        <p:spPr>
          <a:xfrm>
            <a:off x="5723141" y="324433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Blank</a:t>
            </a:r>
          </a:p>
        </p:txBody>
      </p:sp>
    </p:spTree>
    <p:extLst>
      <p:ext uri="{BB962C8B-B14F-4D97-AF65-F5344CB8AC3E}">
        <p14:creationId xmlns:p14="http://schemas.microsoft.com/office/powerpoint/2010/main" val="4080336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FFD42-2524-5647-5820-ECA271790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2EA89E70-64CE-825D-F94F-F80475C85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B2D13A-4577-2AB7-9758-D4869F35C774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0D4D5AE-35F1-2A07-1CBE-15E0B402A3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6488810"/>
                  </p:ext>
                </p:extLst>
              </p:nvPr>
            </p:nvGraphicFramePr>
            <p:xfrm>
              <a:off x="1985436" y="1908810"/>
              <a:ext cx="8221127" cy="30403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4751172">
                      <a:extLst>
                        <a:ext uri="{9D8B030D-6E8A-4147-A177-3AD203B41FA5}">
                          <a16:colId xmlns:a16="http://schemas.microsoft.com/office/drawing/2014/main" val="2110589207"/>
                        </a:ext>
                      </a:extLst>
                    </a:gridCol>
                    <a:gridCol w="3469955">
                      <a:extLst>
                        <a:ext uri="{9D8B030D-6E8A-4147-A177-3AD203B41FA5}">
                          <a16:colId xmlns:a16="http://schemas.microsoft.com/office/drawing/2014/main" val="4141059941"/>
                        </a:ext>
                      </a:extLst>
                    </a:gridCol>
                  </a:tblGrid>
                  <a:tr h="76009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𝚪</m:t>
                                  </m:r>
                                </m:e>
                                <m:sub>
                                  <m:r>
                                    <a:rPr lang="en-US" sz="2400" b="1" i="0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u="none" strike="noStrike" dirty="0">
                              <a:effectLst/>
                            </a:rPr>
                            <a:t> - Point 1</a:t>
                          </a:r>
                          <a:endParaRPr lang="en-US" sz="24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u="none" strike="noStrike" dirty="0">
                              <a:effectLst/>
                            </a:rPr>
                            <a:t>( 0.3808 , +164.5521° )</a:t>
                          </a:r>
                          <a:endParaRPr lang="en-US" sz="24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185259248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𝚪</m:t>
                                  </m:r>
                                </m:e>
                                <m:sub>
                                  <m:r>
                                    <a:rPr lang="en-US" sz="2400" b="1" i="0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u="none" strike="noStrike" dirty="0">
                              <a:effectLst/>
                            </a:rPr>
                            <a:t> -</a:t>
                          </a:r>
                          <a:r>
                            <a:rPr lang="en-US" sz="2400" u="none" strike="noStrike" baseline="0" dirty="0">
                              <a:effectLst/>
                            </a:rPr>
                            <a:t> </a:t>
                          </a:r>
                          <a:r>
                            <a:rPr lang="en-US" sz="2400" u="none" strike="noStrike" dirty="0">
                              <a:effectLst/>
                            </a:rPr>
                            <a:t>Point 2</a:t>
                          </a:r>
                          <a:endParaRPr lang="en-US" sz="24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u="none" strike="noStrike" dirty="0">
                              <a:effectLst/>
                            </a:rPr>
                            <a:t>( 0.3940 , -163.4776° )</a:t>
                          </a:r>
                          <a:endParaRPr lang="en-US" sz="24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5032965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𝚪</m:t>
                                  </m:r>
                                </m:e>
                                <m:sub>
                                  <m:r>
                                    <a:rPr lang="en-US" sz="2400" b="1" i="0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1" u="none" strike="noStrike" dirty="0">
                              <a:effectLst/>
                            </a:rPr>
                            <a:t> </a:t>
                          </a:r>
                          <a:r>
                            <a:rPr lang="en-US" sz="2400" b="0" u="none" strike="noStrike" dirty="0">
                              <a:effectLst/>
                            </a:rPr>
                            <a:t>-</a:t>
                          </a:r>
                          <a:r>
                            <a:rPr lang="en-US" sz="2400" b="1" u="none" strike="noStrike" dirty="0">
                              <a:effectLst/>
                            </a:rPr>
                            <a:t> Point 3</a:t>
                          </a:r>
                          <a:endParaRPr lang="en-US" sz="24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u="none" strike="noStrike" dirty="0">
                              <a:effectLst/>
                            </a:rPr>
                            <a:t>( 0.2049 , -143.2555° )</a:t>
                          </a:r>
                          <a:endParaRPr lang="en-US" sz="24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06429984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𝚪</m:t>
                                  </m:r>
                                </m:e>
                                <m:sub>
                                  <m:r>
                                    <a:rPr lang="en-US" sz="2400" b="1" i="0" u="none" strike="noStrike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u="none" strike="noStrike" dirty="0">
                              <a:effectLst/>
                            </a:rPr>
                            <a:t> - Point 4</a:t>
                          </a:r>
                          <a:endParaRPr lang="en-US" sz="24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u="none" strike="noStrike" dirty="0">
                              <a:effectLst/>
                            </a:rPr>
                            <a:t>( 0.1785 , +149.3877° )</a:t>
                          </a:r>
                          <a:endParaRPr lang="en-US" sz="24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63982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0D4D5AE-35F1-2A07-1CBE-15E0B402A3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6488810"/>
                  </p:ext>
                </p:extLst>
              </p:nvPr>
            </p:nvGraphicFramePr>
            <p:xfrm>
              <a:off x="1985436" y="1908810"/>
              <a:ext cx="8221127" cy="30403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4751172">
                      <a:extLst>
                        <a:ext uri="{9D8B030D-6E8A-4147-A177-3AD203B41FA5}">
                          <a16:colId xmlns:a16="http://schemas.microsoft.com/office/drawing/2014/main" val="2110589207"/>
                        </a:ext>
                      </a:extLst>
                    </a:gridCol>
                    <a:gridCol w="3469955">
                      <a:extLst>
                        <a:ext uri="{9D8B030D-6E8A-4147-A177-3AD203B41FA5}">
                          <a16:colId xmlns:a16="http://schemas.microsoft.com/office/drawing/2014/main" val="4141059941"/>
                        </a:ext>
                      </a:extLst>
                    </a:gridCol>
                  </a:tblGrid>
                  <a:tr h="7600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267" t="-1667" r="-73529" b="-3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u="none" strike="noStrike" dirty="0">
                              <a:effectLst/>
                            </a:rPr>
                            <a:t>( 0.3808 , +164.5521° )</a:t>
                          </a:r>
                          <a:endParaRPr lang="en-US" sz="24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185259248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267" t="-101667" r="-73529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u="none" strike="noStrike" dirty="0">
                              <a:effectLst/>
                            </a:rPr>
                            <a:t>( 0.3940 , -163.4776° )</a:t>
                          </a:r>
                          <a:endParaRPr lang="en-US" sz="24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5032965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267" t="-201667" r="-73529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u="none" strike="noStrike" dirty="0">
                              <a:effectLst/>
                            </a:rPr>
                            <a:t>( 0.2049 , -143.2555° )</a:t>
                          </a:r>
                          <a:endParaRPr lang="en-US" sz="24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06429984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267" t="-301667" r="-73529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u="none" strike="noStrike" dirty="0">
                              <a:effectLst/>
                            </a:rPr>
                            <a:t>( 0.1785 , +149.3877° )</a:t>
                          </a:r>
                          <a:endParaRPr lang="en-US" sz="24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63982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C8C9BF-5AB9-3C4C-98AE-920BA4B62E0D}"/>
                  </a:ext>
                </a:extLst>
              </p:cNvPr>
              <p:cNvSpPr txBox="1"/>
              <p:nvPr/>
            </p:nvSpPr>
            <p:spPr>
              <a:xfrm>
                <a:off x="5029199" y="304800"/>
                <a:ext cx="2133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u="none" strike="noStrike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u="none" strike="noStrike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sz="2800" b="1" i="0" u="none" strike="noStrike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𝐋</m:t>
                        </m:r>
                      </m:sub>
                    </m:sSub>
                  </m:oMath>
                </a14:m>
                <a:r>
                  <a:rPr lang="en-US" sz="2800" b="1" dirty="0"/>
                  <a:t> - 4 Points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C8C9BF-5AB9-3C4C-98AE-920BA4B62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9" y="304800"/>
                <a:ext cx="2133600" cy="523220"/>
              </a:xfrm>
              <a:prstGeom prst="rect">
                <a:avLst/>
              </a:prstGeom>
              <a:blipFill>
                <a:blip r:embed="rId5"/>
                <a:stretch>
                  <a:fillRect l="-1786" t="-14286" r="-2381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979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EA97-CD9D-A63A-28D0-15E1C205A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F3F7D971-6B54-4063-3CB3-BA638B78B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49B5BA-314D-A76E-F4BD-6142015E95EF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1B3127-316A-76CD-5CC3-93146B4A5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67"/>
          <a:stretch/>
        </p:blipFill>
        <p:spPr>
          <a:xfrm>
            <a:off x="3446318" y="1221259"/>
            <a:ext cx="5299364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4AFD99-523D-F7DC-8191-7D0E551B04FF}"/>
              </a:ext>
            </a:extLst>
          </p:cNvPr>
          <p:cNvSpPr txBox="1"/>
          <p:nvPr/>
        </p:nvSpPr>
        <p:spPr>
          <a:xfrm>
            <a:off x="3307431" y="290114"/>
            <a:ext cx="5577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Design 2 – Network Layout</a:t>
            </a:r>
          </a:p>
        </p:txBody>
      </p:sp>
    </p:spTree>
    <p:extLst>
      <p:ext uri="{BB962C8B-B14F-4D97-AF65-F5344CB8AC3E}">
        <p14:creationId xmlns:p14="http://schemas.microsoft.com/office/powerpoint/2010/main" val="3120690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B9875-AC7D-88AA-5BB4-9D5230C7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387C710D-4C92-2E4A-C7A5-E5283EF8B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BDB370-0C08-D733-3215-855ACD945C61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ED5DC6-1E21-F81D-F3FC-0A881BC07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934" y="1275522"/>
            <a:ext cx="8870131" cy="5660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FA78BC-774E-DE69-D700-7DC3672A74A9}"/>
              </a:ext>
            </a:extLst>
          </p:cNvPr>
          <p:cNvSpPr txBox="1"/>
          <p:nvPr/>
        </p:nvSpPr>
        <p:spPr>
          <a:xfrm>
            <a:off x="3272790" y="276999"/>
            <a:ext cx="5646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IMN Network Design in ADS</a:t>
            </a:r>
          </a:p>
        </p:txBody>
      </p:sp>
    </p:spTree>
    <p:extLst>
      <p:ext uri="{BB962C8B-B14F-4D97-AF65-F5344CB8AC3E}">
        <p14:creationId xmlns:p14="http://schemas.microsoft.com/office/powerpoint/2010/main" val="73516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3FA09-CE1E-238E-527D-D0944120A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EE5D3586-47A0-24E9-71AC-482B493C7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69B3D4-8029-4A95-7D12-FC3A4D9A2DB5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</p:spTree>
    <p:extLst>
      <p:ext uri="{BB962C8B-B14F-4D97-AF65-F5344CB8AC3E}">
        <p14:creationId xmlns:p14="http://schemas.microsoft.com/office/powerpoint/2010/main" val="3943758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08F4-9ADB-58CC-8CCB-9492D1AC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96B21E93-C15A-AB9F-D2A5-85E75928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3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446349-DBBD-4B02-E9AD-E1555BC3D488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4EA43-8219-67BE-FB78-E4D87808134E}"/>
              </a:ext>
            </a:extLst>
          </p:cNvPr>
          <p:cNvSpPr txBox="1"/>
          <p:nvPr/>
        </p:nvSpPr>
        <p:spPr>
          <a:xfrm>
            <a:off x="8534400" y="2991075"/>
            <a:ext cx="33358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IMN Network Design</a:t>
            </a:r>
          </a:p>
          <a:p>
            <a:pPr algn="ctr"/>
            <a:r>
              <a:rPr lang="en-US" sz="2800" i="1" dirty="0"/>
              <a:t>Part 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0FFC19-3479-FF40-DDB8-677B0AC6E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10"/>
          <a:stretch/>
        </p:blipFill>
        <p:spPr>
          <a:xfrm>
            <a:off x="2512088" y="0"/>
            <a:ext cx="5869912" cy="691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81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6B2C6-32E8-CB22-E056-88E272058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97FA8EF6-627D-7A17-6982-8A667A83B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A60732-0FA6-CD51-52D6-5C4F45F37D94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ACB38C-3793-3245-8E28-A63939A96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-1"/>
            <a:ext cx="5334000" cy="69028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5BA2D1-6F71-459B-F439-91BCAB3BE771}"/>
              </a:ext>
            </a:extLst>
          </p:cNvPr>
          <p:cNvSpPr txBox="1"/>
          <p:nvPr/>
        </p:nvSpPr>
        <p:spPr>
          <a:xfrm>
            <a:off x="8534400" y="2991075"/>
            <a:ext cx="33358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IMN Network Design</a:t>
            </a:r>
          </a:p>
          <a:p>
            <a:pPr algn="ctr"/>
            <a:r>
              <a:rPr lang="en-US" sz="2800" i="1" dirty="0"/>
              <a:t>Part Two</a:t>
            </a:r>
          </a:p>
        </p:txBody>
      </p:sp>
    </p:spTree>
    <p:extLst>
      <p:ext uri="{BB962C8B-B14F-4D97-AF65-F5344CB8AC3E}">
        <p14:creationId xmlns:p14="http://schemas.microsoft.com/office/powerpoint/2010/main" val="1258186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84112-FBD3-8338-4945-1B581968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C2AF1089-D5EA-08B8-D045-8117B94CC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CDB618-431B-B9CE-073F-935997815AE8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06BAF1-88C4-6FC6-F5BF-EA5B3C02F263}"/>
              </a:ext>
            </a:extLst>
          </p:cNvPr>
          <p:cNvSpPr txBox="1"/>
          <p:nvPr/>
        </p:nvSpPr>
        <p:spPr>
          <a:xfrm>
            <a:off x="3162756" y="324118"/>
            <a:ext cx="5864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OMN Network Design in ADS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85D9D3-132D-6C96-73AC-37A7B9814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3" t="3986" r="7843" b="6612"/>
          <a:stretch/>
        </p:blipFill>
        <p:spPr>
          <a:xfrm>
            <a:off x="2508962" y="1294567"/>
            <a:ext cx="7174076" cy="562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40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C691F-F736-096F-C566-54E013CD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E6EC1F92-B1C5-8EFF-8258-5AFD87717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5500E4-2735-98C4-00A5-E622FC7C9779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</p:spTree>
    <p:extLst>
      <p:ext uri="{BB962C8B-B14F-4D97-AF65-F5344CB8AC3E}">
        <p14:creationId xmlns:p14="http://schemas.microsoft.com/office/powerpoint/2010/main" val="478499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25E90-DBEB-4543-95B9-98EA55BB7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C4DA72E1-D4B0-AA84-AC2F-A56D067F7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4FEB58-B757-75C5-3D30-1258991940BC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133976-2EA1-BF22-2F24-BC20E743FA9A}"/>
              </a:ext>
            </a:extLst>
          </p:cNvPr>
          <p:cNvSpPr txBox="1"/>
          <p:nvPr/>
        </p:nvSpPr>
        <p:spPr>
          <a:xfrm>
            <a:off x="8449441" y="2991075"/>
            <a:ext cx="35057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OMN Network Design</a:t>
            </a:r>
          </a:p>
          <a:p>
            <a:pPr algn="ctr"/>
            <a:r>
              <a:rPr lang="en-US" sz="2800" i="1" dirty="0"/>
              <a:t>Part 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F7E5A6-BC33-C1C1-3779-DBEED3601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260" y="39128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18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DB7D5-E56F-24E2-584F-AE4193D37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5D5C0D77-DFBE-D8B8-4828-C31C4F3DA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932D13-E3FC-D826-E218-D57D88E72B6E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C5ABF-E1D4-68D5-F1E9-43D4D13E3346}"/>
              </a:ext>
            </a:extLst>
          </p:cNvPr>
          <p:cNvSpPr txBox="1"/>
          <p:nvPr/>
        </p:nvSpPr>
        <p:spPr>
          <a:xfrm>
            <a:off x="8449441" y="2991075"/>
            <a:ext cx="35057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OMN Network Design</a:t>
            </a:r>
          </a:p>
          <a:p>
            <a:pPr algn="ctr"/>
            <a:r>
              <a:rPr lang="en-US" sz="2800" i="1" dirty="0"/>
              <a:t>Part Two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596D2-3C12-3947-31F8-5BFC285EA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39128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98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FD2B6-216B-FB86-5F42-AE1A65A68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5182123D-93FF-B523-388E-98AA31081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77" y="0"/>
            <a:ext cx="12234578" cy="69616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81CB54-85C1-7069-79B7-05D2EEE92820}"/>
              </a:ext>
            </a:extLst>
          </p:cNvPr>
          <p:cNvSpPr txBox="1"/>
          <p:nvPr/>
        </p:nvSpPr>
        <p:spPr>
          <a:xfrm>
            <a:off x="152400" y="7620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297DB5-597A-246D-B773-DEBA98388E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468414"/>
                  </p:ext>
                </p:extLst>
              </p:nvPr>
            </p:nvGraphicFramePr>
            <p:xfrm>
              <a:off x="152400" y="1340354"/>
              <a:ext cx="11887200" cy="5516875"/>
            </p:xfrm>
            <a:graphic>
              <a:graphicData uri="http://schemas.openxmlformats.org/drawingml/2006/table">
                <a:tbl>
                  <a:tblPr/>
                  <a:tblGrid>
                    <a:gridCol w="2377440">
                      <a:extLst>
                        <a:ext uri="{9D8B030D-6E8A-4147-A177-3AD203B41FA5}">
                          <a16:colId xmlns:a16="http://schemas.microsoft.com/office/drawing/2014/main" val="4035509813"/>
                        </a:ext>
                      </a:extLst>
                    </a:gridCol>
                    <a:gridCol w="2956560">
                      <a:extLst>
                        <a:ext uri="{9D8B030D-6E8A-4147-A177-3AD203B41FA5}">
                          <a16:colId xmlns:a16="http://schemas.microsoft.com/office/drawing/2014/main" val="2733268771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2472337026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322908236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769819149"/>
                        </a:ext>
                      </a:extLst>
                    </a:gridCol>
                  </a:tblGrid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Parameter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Spec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>
                              <a:effectLst/>
                              <a:latin typeface="Calibri" panose="020F0502020204030204" pitchFamily="34" charset="0"/>
                            </a:rPr>
                            <a:t>Units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- Pass / Fail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1698152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( 0.4256 , -136.0227°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654612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( 0.2904 , +146.0865°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1269991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𝐢𝐧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( 0.4742 , +123.6207°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850499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𝐨𝐮𝐭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( 0.3642 , -168.6686°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82188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0.1350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127905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-17.3944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3064947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𝐈𝐌𝐍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1.4983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≤1.5000</m:t>
                              </m:r>
                            </m:oMath>
                          </a14:m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231055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0.1630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04863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  <m:r>
                                  <a:rPr lang="en-US" sz="20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-15.7583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461197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𝐕𝐒𝐖𝐑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𝐎𝐌𝐍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1.3894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≤1.5000</m:t>
                              </m:r>
                            </m:oMath>
                          </a14:m>
                          <a:r>
                            <a:rPr lang="en-US" sz="20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0115724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12.2599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≥12.0000</m:t>
                              </m:r>
                            </m:oMath>
                          </a14:m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4665160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2000" b="1" i="0" u="none" strike="noStrike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𝐝𝐁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0.5803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≤0.6000</m:t>
                              </m:r>
                            </m:oMath>
                          </a14:m>
                          <a:r>
                            <a:rPr lang="en-US" sz="20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23100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297DB5-597A-246D-B773-DEBA98388E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468414"/>
                  </p:ext>
                </p:extLst>
              </p:nvPr>
            </p:nvGraphicFramePr>
            <p:xfrm>
              <a:off x="152400" y="1340354"/>
              <a:ext cx="11887200" cy="5516875"/>
            </p:xfrm>
            <a:graphic>
              <a:graphicData uri="http://schemas.openxmlformats.org/drawingml/2006/table">
                <a:tbl>
                  <a:tblPr/>
                  <a:tblGrid>
                    <a:gridCol w="2377440">
                      <a:extLst>
                        <a:ext uri="{9D8B030D-6E8A-4147-A177-3AD203B41FA5}">
                          <a16:colId xmlns:a16="http://schemas.microsoft.com/office/drawing/2014/main" val="4035509813"/>
                        </a:ext>
                      </a:extLst>
                    </a:gridCol>
                    <a:gridCol w="2956560">
                      <a:extLst>
                        <a:ext uri="{9D8B030D-6E8A-4147-A177-3AD203B41FA5}">
                          <a16:colId xmlns:a16="http://schemas.microsoft.com/office/drawing/2014/main" val="2733268771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2472337026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322908236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769819149"/>
                        </a:ext>
                      </a:extLst>
                    </a:gridCol>
                  </a:tblGrid>
                  <a:tr h="42437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Parameter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Spec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>
                              <a:effectLst/>
                              <a:latin typeface="Calibri" panose="020F0502020204030204" pitchFamily="34" charset="0"/>
                            </a:rPr>
                            <a:t>Units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Design - Pass / Fail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1698152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111765" r="-401604" b="-1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( 0.4256 , -136.0227°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654612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218182" r="-401604" b="-105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( 0.2904 , +146.0865°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1269991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308824" r="-401604" b="-9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( 0.4742 , +123.6207°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850499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421212" r="-401604" b="-8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( 0.3642 , -168.6686° )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82188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505882" r="-401604" b="-7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0.1350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127905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624242" r="-401604" b="-6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-17.3944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30649476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702941" r="-401604" b="-5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1.4983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479" t="-702941" r="-264789" b="-5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231055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827273" r="-401604" b="-442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0.1630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904863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900000" r="-401604" b="-3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-15.7583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------------------------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4611977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1030303" r="-401604" b="-239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1.3894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479" t="-1030303" r="-264789" b="-239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---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0115724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1097059" r="-401604" b="-13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12.2599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479" t="-1097059" r="-264789" b="-13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4665160"/>
                      </a:ext>
                    </a:extLst>
                  </a:tr>
                  <a:tr h="42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5" t="-1233333" r="-401604" b="-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0.5803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6479" t="-1233333" r="-264789" b="-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dB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Pass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2310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E5ED1CE-E602-E5A7-9CDF-253FE2F44C5A}"/>
              </a:ext>
            </a:extLst>
          </p:cNvPr>
          <p:cNvSpPr txBox="1"/>
          <p:nvPr/>
        </p:nvSpPr>
        <p:spPr>
          <a:xfrm>
            <a:off x="4656909" y="208512"/>
            <a:ext cx="2878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Design 2</a:t>
            </a:r>
          </a:p>
        </p:txBody>
      </p:sp>
    </p:spTree>
    <p:extLst>
      <p:ext uri="{BB962C8B-B14F-4D97-AF65-F5344CB8AC3E}">
        <p14:creationId xmlns:p14="http://schemas.microsoft.com/office/powerpoint/2010/main" val="4175653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7D81D-E732-DAB6-BE85-9EB7BB44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00CE8AE2-0770-9903-4178-F2CEDBA24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03932C-E78A-1E0B-4A84-ABD5DF0F5E1A}"/>
              </a:ext>
            </a:extLst>
          </p:cNvPr>
          <p:cNvSpPr txBox="1"/>
          <p:nvPr/>
        </p:nvSpPr>
        <p:spPr>
          <a:xfrm>
            <a:off x="152400" y="7620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3FB25-F18B-BE7C-6924-A771AF740705}"/>
              </a:ext>
            </a:extLst>
          </p:cNvPr>
          <p:cNvSpPr txBox="1"/>
          <p:nvPr/>
        </p:nvSpPr>
        <p:spPr>
          <a:xfrm>
            <a:off x="4656909" y="186035"/>
            <a:ext cx="2878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Design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9BDDB45-F269-4EB4-16DF-AF83B32CE3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9072570"/>
                  </p:ext>
                </p:extLst>
              </p:nvPr>
            </p:nvGraphicFramePr>
            <p:xfrm>
              <a:off x="152400" y="1295400"/>
              <a:ext cx="11887200" cy="5486401"/>
            </p:xfrm>
            <a:graphic>
              <a:graphicData uri="http://schemas.openxmlformats.org/drawingml/2006/table">
                <a:tbl>
                  <a:tblPr/>
                  <a:tblGrid>
                    <a:gridCol w="2773680">
                      <a:extLst>
                        <a:ext uri="{9D8B030D-6E8A-4147-A177-3AD203B41FA5}">
                          <a16:colId xmlns:a16="http://schemas.microsoft.com/office/drawing/2014/main" val="1916382260"/>
                        </a:ext>
                      </a:extLst>
                    </a:gridCol>
                    <a:gridCol w="2641600">
                      <a:extLst>
                        <a:ext uri="{9D8B030D-6E8A-4147-A177-3AD203B41FA5}">
                          <a16:colId xmlns:a16="http://schemas.microsoft.com/office/drawing/2014/main" val="2161368302"/>
                        </a:ext>
                      </a:extLst>
                    </a:gridCol>
                    <a:gridCol w="2179320">
                      <a:extLst>
                        <a:ext uri="{9D8B030D-6E8A-4147-A177-3AD203B41FA5}">
                          <a16:colId xmlns:a16="http://schemas.microsoft.com/office/drawing/2014/main" val="2649212671"/>
                        </a:ext>
                      </a:extLst>
                    </a:gridCol>
                    <a:gridCol w="2641600">
                      <a:extLst>
                        <a:ext uri="{9D8B030D-6E8A-4147-A177-3AD203B41FA5}">
                          <a16:colId xmlns:a16="http://schemas.microsoft.com/office/drawing/2014/main" val="1813522279"/>
                        </a:ext>
                      </a:extLst>
                    </a:gridCol>
                    <a:gridCol w="1651000">
                      <a:extLst>
                        <a:ext uri="{9D8B030D-6E8A-4147-A177-3AD203B41FA5}">
                          <a16:colId xmlns:a16="http://schemas.microsoft.com/office/drawing/2014/main" val="140589039"/>
                        </a:ext>
                      </a:extLst>
                    </a:gridCol>
                  </a:tblGrid>
                  <a:tr h="7990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IMN Electrical Lengths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𝝀</m:t>
                                </m:r>
                              </m:oMath>
                            </m:oMathPara>
                          </a14:m>
                          <a:endParaRPr lang="en-US" sz="32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Degrees </a:t>
                          </a:r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</a:t>
                          </a:r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 ° </a:t>
                          </a:r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Network Component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Termination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4835407"/>
                      </a:ext>
                    </a:extLst>
                  </a:tr>
                  <a:tr h="78122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>
                              <a:effectLst/>
                              <a:latin typeface="Calibri" panose="020F0502020204030204" pitchFamily="34" charset="0"/>
                            </a:rPr>
                            <a:t>Theta_I1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0.1201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43.2481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TRL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N/A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3082103"/>
                      </a:ext>
                    </a:extLst>
                  </a:tr>
                  <a:tr h="78122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>
                              <a:effectLst/>
                              <a:latin typeface="Calibri" panose="020F0502020204030204" pitchFamily="34" charset="0"/>
                            </a:rPr>
                            <a:t>Theta_I2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0.0289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10.4170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Shunt Stub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Open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8383676"/>
                      </a:ext>
                    </a:extLst>
                  </a:tr>
                  <a:tr h="781229"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967223"/>
                      </a:ext>
                    </a:extLst>
                  </a:tr>
                  <a:tr h="78122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OMN Electrical Lengths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1" i="1" u="none" strike="noStrike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𝝀</m:t>
                                </m:r>
                              </m:oMath>
                            </m:oMathPara>
                          </a14:m>
                          <a:endParaRPr lang="en-US" sz="32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Degrees </a:t>
                          </a:r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</a:t>
                          </a:r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 ° </a:t>
                          </a:r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Network Component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>
                              <a:effectLst/>
                              <a:latin typeface="Calibri" panose="020F0502020204030204" pitchFamily="34" charset="0"/>
                            </a:rPr>
                            <a:t>Termination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3225009"/>
                      </a:ext>
                    </a:extLst>
                  </a:tr>
                  <a:tr h="78122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>
                              <a:effectLst/>
                              <a:latin typeface="Calibri" panose="020F0502020204030204" pitchFamily="34" charset="0"/>
                            </a:rPr>
                            <a:t>Theta_O1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0.0868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31.2559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TRL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N/A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8212641"/>
                      </a:ext>
                    </a:extLst>
                  </a:tr>
                  <a:tr h="78122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>
                              <a:effectLst/>
                              <a:latin typeface="Calibri" panose="020F0502020204030204" pitchFamily="34" charset="0"/>
                            </a:rPr>
                            <a:t>Theta_O2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0.1487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53.5158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Shunt Stub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Open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30958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9BDDB45-F269-4EB4-16DF-AF83B32CE3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9072570"/>
                  </p:ext>
                </p:extLst>
              </p:nvPr>
            </p:nvGraphicFramePr>
            <p:xfrm>
              <a:off x="152400" y="1295400"/>
              <a:ext cx="11887200" cy="5486401"/>
            </p:xfrm>
            <a:graphic>
              <a:graphicData uri="http://schemas.openxmlformats.org/drawingml/2006/table">
                <a:tbl>
                  <a:tblPr/>
                  <a:tblGrid>
                    <a:gridCol w="2773680">
                      <a:extLst>
                        <a:ext uri="{9D8B030D-6E8A-4147-A177-3AD203B41FA5}">
                          <a16:colId xmlns:a16="http://schemas.microsoft.com/office/drawing/2014/main" val="1916382260"/>
                        </a:ext>
                      </a:extLst>
                    </a:gridCol>
                    <a:gridCol w="2641600">
                      <a:extLst>
                        <a:ext uri="{9D8B030D-6E8A-4147-A177-3AD203B41FA5}">
                          <a16:colId xmlns:a16="http://schemas.microsoft.com/office/drawing/2014/main" val="2161368302"/>
                        </a:ext>
                      </a:extLst>
                    </a:gridCol>
                    <a:gridCol w="2179320">
                      <a:extLst>
                        <a:ext uri="{9D8B030D-6E8A-4147-A177-3AD203B41FA5}">
                          <a16:colId xmlns:a16="http://schemas.microsoft.com/office/drawing/2014/main" val="2649212671"/>
                        </a:ext>
                      </a:extLst>
                    </a:gridCol>
                    <a:gridCol w="2641600">
                      <a:extLst>
                        <a:ext uri="{9D8B030D-6E8A-4147-A177-3AD203B41FA5}">
                          <a16:colId xmlns:a16="http://schemas.microsoft.com/office/drawing/2014/main" val="1813522279"/>
                        </a:ext>
                      </a:extLst>
                    </a:gridCol>
                    <a:gridCol w="1651000">
                      <a:extLst>
                        <a:ext uri="{9D8B030D-6E8A-4147-A177-3AD203B41FA5}">
                          <a16:colId xmlns:a16="http://schemas.microsoft.com/office/drawing/2014/main" val="140589039"/>
                        </a:ext>
                      </a:extLst>
                    </a:gridCol>
                  </a:tblGrid>
                  <a:tr h="7990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IMN Electrical Lengths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288" t="-1587" r="-245673" b="-587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Degrees </a:t>
                          </a:r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</a:t>
                          </a:r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 ° </a:t>
                          </a:r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Network Component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Termination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4835407"/>
                      </a:ext>
                    </a:extLst>
                  </a:tr>
                  <a:tr h="78122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>
                              <a:effectLst/>
                              <a:latin typeface="Calibri" panose="020F0502020204030204" pitchFamily="34" charset="0"/>
                            </a:rPr>
                            <a:t>Theta_I1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0.1201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43.2481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TRL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N/A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3082103"/>
                      </a:ext>
                    </a:extLst>
                  </a:tr>
                  <a:tr h="78122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400" b="1" i="0" u="none" strike="noStrike">
                              <a:effectLst/>
                              <a:latin typeface="Calibri" panose="020F0502020204030204" pitchFamily="34" charset="0"/>
                            </a:rPr>
                            <a:t>Theta_I2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0.0289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10.4170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Shunt Stub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Open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8383676"/>
                      </a:ext>
                    </a:extLst>
                  </a:tr>
                  <a:tr h="781229"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sz="2000" b="1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sz="2000" b="0" i="0" u="none" strike="noStrike" dirty="0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sz="2000" b="0" i="0" u="none" strike="noStrike"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967223"/>
                      </a:ext>
                    </a:extLst>
                  </a:tr>
                  <a:tr h="78122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OMN Electrical Lengths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288" t="-401613" r="-245673" b="-1983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Degrees </a:t>
                          </a:r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(</a:t>
                          </a:r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 ° </a:t>
                          </a:r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Network Component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>
                              <a:effectLst/>
                              <a:latin typeface="Calibri" panose="020F0502020204030204" pitchFamily="34" charset="0"/>
                            </a:rPr>
                            <a:t>Termination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3225009"/>
                      </a:ext>
                    </a:extLst>
                  </a:tr>
                  <a:tr h="78122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>
                              <a:effectLst/>
                              <a:latin typeface="Calibri" panose="020F0502020204030204" pitchFamily="34" charset="0"/>
                            </a:rPr>
                            <a:t>Theta_O1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0.0868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31.2559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TRL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N/A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8212641"/>
                      </a:ext>
                    </a:extLst>
                  </a:tr>
                  <a:tr h="78122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i="0" u="none" strike="noStrike">
                              <a:effectLst/>
                              <a:latin typeface="Calibri" panose="020F0502020204030204" pitchFamily="34" charset="0"/>
                            </a:rPr>
                            <a:t>Theta_O2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0.1487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53.5158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>
                              <a:effectLst/>
                              <a:latin typeface="Calibri" panose="020F0502020204030204" pitchFamily="34" charset="0"/>
                            </a:rPr>
                            <a:t>Shunt Stub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0" i="0" u="none" strike="noStrike" dirty="0">
                              <a:effectLst/>
                              <a:latin typeface="Calibri" panose="020F0502020204030204" pitchFamily="34" charset="0"/>
                            </a:rPr>
                            <a:t>Open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309587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29907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85B2B-957D-B315-3BC8-84CA3286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27487F52-E5EE-37C6-1E66-56B8C1F51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E85711-F767-E93B-2FA2-7797CB6ADA3B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89774A-1E0F-EC35-6B60-C9735E488B4B}"/>
              </a:ext>
            </a:extLst>
          </p:cNvPr>
          <p:cNvSpPr txBox="1"/>
          <p:nvPr/>
        </p:nvSpPr>
        <p:spPr>
          <a:xfrm>
            <a:off x="2686220" y="3083408"/>
            <a:ext cx="68195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ADS &amp; MATLAB Simulations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915DD7-CACC-F8FE-4008-4DBA648FEC88}"/>
              </a:ext>
            </a:extLst>
          </p:cNvPr>
          <p:cNvSpPr txBox="1"/>
          <p:nvPr/>
        </p:nvSpPr>
        <p:spPr>
          <a:xfrm>
            <a:off x="3936818" y="215444"/>
            <a:ext cx="43183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Design Verification</a:t>
            </a:r>
          </a:p>
        </p:txBody>
      </p:sp>
    </p:spTree>
    <p:extLst>
      <p:ext uri="{BB962C8B-B14F-4D97-AF65-F5344CB8AC3E}">
        <p14:creationId xmlns:p14="http://schemas.microsoft.com/office/powerpoint/2010/main" val="4057331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34C62-CAD6-942F-5B50-F9FBEF4A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59BB2F73-9A30-832A-683C-775B53F0E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A93952-0481-A547-2272-F721A64FFB96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364EDA-FD84-3AF2-0C85-E35D406EA029}"/>
              </a:ext>
            </a:extLst>
          </p:cNvPr>
          <p:cNvSpPr txBox="1"/>
          <p:nvPr/>
        </p:nvSpPr>
        <p:spPr>
          <a:xfrm>
            <a:off x="4282453" y="214748"/>
            <a:ext cx="36250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Simulation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8263BE-EEAB-F913-4411-5BCA3061B1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33" y="1509016"/>
            <a:ext cx="11718333" cy="479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34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7FB18-6BF3-3376-6435-2172550C8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29A0581A-E820-0AFB-CD61-2D4B3349E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108B28-CD45-9991-2852-AFF7C6725481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560A09-C6F7-E089-BE45-04E022D53DC9}"/>
              </a:ext>
            </a:extLst>
          </p:cNvPr>
          <p:cNvSpPr txBox="1"/>
          <p:nvPr/>
        </p:nvSpPr>
        <p:spPr>
          <a:xfrm>
            <a:off x="4159252" y="298222"/>
            <a:ext cx="38734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Simulations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8977D1-B3FF-576C-D4A0-E8832A937B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2" t="3038" r="3922" b="4631"/>
          <a:stretch/>
        </p:blipFill>
        <p:spPr>
          <a:xfrm>
            <a:off x="1943616" y="1304330"/>
            <a:ext cx="8304768" cy="553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80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E2CBD-8212-11D2-C2DB-A9F1C085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64EA0722-65E6-46BE-F7EF-EDFD148E9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BC2D5A-6E7C-6114-4407-6F26EBE78DA4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F94203-FD76-8B9C-993C-5FD0BEEC9C8D}"/>
              </a:ext>
            </a:extLst>
          </p:cNvPr>
          <p:cNvSpPr txBox="1"/>
          <p:nvPr/>
        </p:nvSpPr>
        <p:spPr>
          <a:xfrm>
            <a:off x="3122520" y="215444"/>
            <a:ext cx="6217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&amp; MATLAB Simulations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03206-FDC3-94CA-725D-7E781FE34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68" y="1181952"/>
            <a:ext cx="10515600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80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330E9-8577-F3CD-72B5-CEA30A3F9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5304CEB1-AD39-FAAD-F791-BBDA3398D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907ABE-DB82-CE6D-8561-62260A01C37A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8B4DB-B7CE-499F-D734-C447FDEB468D}"/>
              </a:ext>
            </a:extLst>
          </p:cNvPr>
          <p:cNvSpPr txBox="1"/>
          <p:nvPr/>
        </p:nvSpPr>
        <p:spPr>
          <a:xfrm>
            <a:off x="3122520" y="215444"/>
            <a:ext cx="6217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&amp; MATLAB Simulations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16648-D14C-8F26-3EE8-6E12D190CA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68" y="1182687"/>
            <a:ext cx="10896600" cy="567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23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E10DD-8760-2A38-51C8-92A90EC7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DF347F5D-F879-01A6-3A9F-EFF4333A1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18BC9A-29EF-0EA5-27D9-722A8C9B70A2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4EB93A-3D7D-1605-CB03-7FD59B608C10}"/>
              </a:ext>
            </a:extLst>
          </p:cNvPr>
          <p:cNvSpPr txBox="1"/>
          <p:nvPr/>
        </p:nvSpPr>
        <p:spPr>
          <a:xfrm>
            <a:off x="3122520" y="215444"/>
            <a:ext cx="6217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&amp; MATLAB Simulations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B1EBF4-8A87-3BA5-2E46-7F422DCFC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88" y="1230255"/>
            <a:ext cx="10906760" cy="568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03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6C538-E53D-D7C4-899F-C4C319EE4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104658D8-0546-A8FC-679D-9F3B59FC6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13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69D849-650E-1683-2585-D670C75A77C5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056C37-5DA4-918E-B119-C6C317ADC252}"/>
              </a:ext>
            </a:extLst>
          </p:cNvPr>
          <p:cNvSpPr txBox="1"/>
          <p:nvPr/>
        </p:nvSpPr>
        <p:spPr>
          <a:xfrm>
            <a:off x="3122520" y="215444"/>
            <a:ext cx="6217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&amp; MATLAB Simulations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864478-0391-34B3-51EA-2E2642E6B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68" y="1142344"/>
            <a:ext cx="10896600" cy="567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09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09402-049A-EAEA-BB86-E4716E823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67BB5C1B-4089-62F1-B4BF-9913C24C3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084445-A3FB-E279-C98F-79D87B5590C9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CB4B6E-962E-C802-0721-BF403F733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23" y="1219200"/>
            <a:ext cx="10976753" cy="5717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7882E1-0B64-FC43-3F8C-15D4298D258D}"/>
              </a:ext>
            </a:extLst>
          </p:cNvPr>
          <p:cNvSpPr txBox="1"/>
          <p:nvPr/>
        </p:nvSpPr>
        <p:spPr>
          <a:xfrm>
            <a:off x="3122520" y="215444"/>
            <a:ext cx="6217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&amp; MATLAB Simulations</a:t>
            </a:r>
          </a:p>
        </p:txBody>
      </p:sp>
    </p:spTree>
    <p:extLst>
      <p:ext uri="{BB962C8B-B14F-4D97-AF65-F5344CB8AC3E}">
        <p14:creationId xmlns:p14="http://schemas.microsoft.com/office/powerpoint/2010/main" val="787441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090D4-E25F-1E24-7447-E5579CEFE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72CE0510-5635-035C-C865-A0A6E8D9E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" y="0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8C15A9-EF94-53AF-A966-353871A2F404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B9D36B-9A00-E2B1-834E-E85AF528D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1260946"/>
            <a:ext cx="10896600" cy="56753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428822-3DBB-63A1-0402-5CE019F36330}"/>
              </a:ext>
            </a:extLst>
          </p:cNvPr>
          <p:cNvSpPr txBox="1"/>
          <p:nvPr/>
        </p:nvSpPr>
        <p:spPr>
          <a:xfrm>
            <a:off x="3122520" y="215444"/>
            <a:ext cx="6217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ADS &amp; MATLAB Simulations</a:t>
            </a:r>
          </a:p>
        </p:txBody>
      </p:sp>
    </p:spTree>
    <p:extLst>
      <p:ext uri="{BB962C8B-B14F-4D97-AF65-F5344CB8AC3E}">
        <p14:creationId xmlns:p14="http://schemas.microsoft.com/office/powerpoint/2010/main" val="4480156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E4E0-C7AF-C8CD-0567-4F3DDA52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8C152104-1411-BAC5-8609-496B137A8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5"/>
            <a:ext cx="12189939" cy="693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064465-707A-CDA6-15E5-17DCB11C9F92}"/>
              </a:ext>
            </a:extLst>
          </p:cNvPr>
          <p:cNvSpPr txBox="1"/>
          <p:nvPr/>
        </p:nvSpPr>
        <p:spPr>
          <a:xfrm>
            <a:off x="0" y="0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50104-EC8E-9D50-721E-F0C4BE24C476}"/>
              </a:ext>
            </a:extLst>
          </p:cNvPr>
          <p:cNvSpPr txBox="1"/>
          <p:nvPr/>
        </p:nvSpPr>
        <p:spPr>
          <a:xfrm>
            <a:off x="3382366" y="607565"/>
            <a:ext cx="5425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Simulation Comparison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17BAA6-E1F4-FBAA-C809-4D46229FB409}"/>
              </a:ext>
            </a:extLst>
          </p:cNvPr>
          <p:cNvSpPr txBox="1"/>
          <p:nvPr/>
        </p:nvSpPr>
        <p:spPr>
          <a:xfrm>
            <a:off x="862893" y="2345932"/>
            <a:ext cx="10464147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This LNA configuration succeeded in meeting all the specifications which the design required.</a:t>
            </a:r>
          </a:p>
          <a:p>
            <a:endParaRPr lang="en-US" sz="2000" dirty="0"/>
          </a:p>
          <a:p>
            <a:r>
              <a:rPr lang="en-US" sz="2000" dirty="0"/>
              <a:t>Both the MATLAB and the ADS simulations provide the same values for the LNA.</a:t>
            </a:r>
          </a:p>
          <a:p>
            <a:endParaRPr lang="en-US" sz="2000" dirty="0"/>
          </a:p>
          <a:p>
            <a:r>
              <a:rPr lang="en-US" sz="2000" dirty="0"/>
              <a:t>MATLAB and ADS provided simulated values  for the parameters listed in table 1, </a:t>
            </a:r>
          </a:p>
          <a:p>
            <a:r>
              <a:rPr lang="en-US" sz="2000" dirty="0"/>
              <a:t>these values are essentially the same, showing an excellent match:</a:t>
            </a:r>
          </a:p>
          <a:p>
            <a:r>
              <a:rPr lang="en-US" sz="2000" dirty="0"/>
              <a:t>	— there is less than a 0.0001 percent difference between MATLAB and ADS values.</a:t>
            </a:r>
          </a:p>
          <a:p>
            <a:endParaRPr lang="en-US" sz="2000" dirty="0"/>
          </a:p>
          <a:p>
            <a:r>
              <a:rPr lang="en-US" sz="2000" dirty="0"/>
              <a:t>The noise figure could be lower, however overall gain provided by this design </a:t>
            </a:r>
          </a:p>
          <a:p>
            <a:r>
              <a:rPr lang="en-US" sz="2000" dirty="0"/>
              <a:t>isn’t as lacking as many of the other designs solutions which were considered before this one.</a:t>
            </a:r>
          </a:p>
        </p:txBody>
      </p:sp>
    </p:spTree>
    <p:extLst>
      <p:ext uri="{BB962C8B-B14F-4D97-AF65-F5344CB8AC3E}">
        <p14:creationId xmlns:p14="http://schemas.microsoft.com/office/powerpoint/2010/main" val="25615260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0352A-3D5E-8A50-E263-924C94AD6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411D601F-FE99-CAE2-A615-3DF2DF7E9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41" b="82104"/>
          <a:stretch/>
        </p:blipFill>
        <p:spPr>
          <a:xfrm>
            <a:off x="2060" y="-14306"/>
            <a:ext cx="12189940" cy="9785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BE7526-C81D-D71B-19A6-4324623700A1}"/>
              </a:ext>
            </a:extLst>
          </p:cNvPr>
          <p:cNvSpPr txBox="1"/>
          <p:nvPr/>
        </p:nvSpPr>
        <p:spPr>
          <a:xfrm>
            <a:off x="10134600" y="474948"/>
            <a:ext cx="1839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cs typeface="Times New Roman"/>
              </a:rPr>
              <a:t>Steven Placzek</a:t>
            </a:r>
            <a:endParaRPr lang="en-US" sz="20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B37294A-15DB-6C58-5137-26E211ACB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1901" y="2819400"/>
            <a:ext cx="7047298" cy="2297043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/>
              <a:t>Additional Material Submitted to Kodiak:</a:t>
            </a:r>
            <a:br>
              <a:rPr lang="en-US" sz="3200" dirty="0"/>
            </a:br>
            <a:r>
              <a:rPr lang="en-US" sz="3200" dirty="0"/>
              <a:t>- Excel</a:t>
            </a:r>
            <a:br>
              <a:rPr lang="en-US" sz="3200" dirty="0"/>
            </a:br>
            <a:r>
              <a:rPr lang="en-US" sz="3200" dirty="0"/>
              <a:t>- </a:t>
            </a:r>
            <a:r>
              <a:rPr lang="en-US" sz="3200" dirty="0" err="1"/>
              <a:t>Matlab</a:t>
            </a:r>
            <a:r>
              <a:rPr lang="en-US" sz="3200" dirty="0"/>
              <a:t> Code</a:t>
            </a:r>
            <a:br>
              <a:rPr lang="en-US" sz="3200" dirty="0"/>
            </a:br>
            <a:r>
              <a:rPr lang="en-US" sz="3200" dirty="0"/>
              <a:t>- ADS Files</a:t>
            </a:r>
            <a:br>
              <a:rPr lang="en-US" sz="3200" dirty="0"/>
            </a:br>
            <a:r>
              <a:rPr lang="en-US" sz="3200" dirty="0"/>
              <a:t>- Scans / Screenshots</a:t>
            </a:r>
            <a:endParaRPr lang="en-US" sz="32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D8C6B-9641-9EC2-62F2-B29CFDD5F775}"/>
              </a:ext>
            </a:extLst>
          </p:cNvPr>
          <p:cNvSpPr txBox="1"/>
          <p:nvPr/>
        </p:nvSpPr>
        <p:spPr>
          <a:xfrm>
            <a:off x="3205144" y="1905000"/>
            <a:ext cx="5781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ea typeface="+mj-lt"/>
                <a:cs typeface="+mj-lt"/>
              </a:rPr>
              <a:t>End of Design Project 2 Presentation</a:t>
            </a:r>
            <a:endParaRPr lang="en-US" sz="28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7F479-F82C-EB03-AC4D-07288240362E}"/>
              </a:ext>
            </a:extLst>
          </p:cNvPr>
          <p:cNvSpPr txBox="1"/>
          <p:nvPr/>
        </p:nvSpPr>
        <p:spPr>
          <a:xfrm>
            <a:off x="-15240" y="-48272"/>
            <a:ext cx="251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  <a:p>
            <a:pPr algn="ctr"/>
            <a:r>
              <a:rPr lang="en-US" dirty="0"/>
              <a:t>Design Project 2</a:t>
            </a:r>
          </a:p>
        </p:txBody>
      </p:sp>
    </p:spTree>
    <p:extLst>
      <p:ext uri="{BB962C8B-B14F-4D97-AF65-F5344CB8AC3E}">
        <p14:creationId xmlns:p14="http://schemas.microsoft.com/office/powerpoint/2010/main" val="21028179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99FEF-155F-5C16-0912-F70F473D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CA0F68EA-1FB9-2ACF-63A9-A5A1F39D4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41" b="82104"/>
          <a:stretch/>
        </p:blipFill>
        <p:spPr>
          <a:xfrm>
            <a:off x="-1" y="0"/>
            <a:ext cx="12189940" cy="97850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3813923-983B-CE7D-10F0-8E2F04FE0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4483" y="185194"/>
            <a:ext cx="6200972" cy="608119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/>
              <a:t>Appendix I — Excel Spreadsheets</a:t>
            </a:r>
            <a:endParaRPr lang="en-US" sz="3200" b="1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9390D1-0D80-31B3-3572-28E9BBF3B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67" y="1898893"/>
            <a:ext cx="11868665" cy="30602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1FC5CF-9C1D-662E-E2D7-D9DD9FBBE7DD}"/>
              </a:ext>
            </a:extLst>
          </p:cNvPr>
          <p:cNvSpPr txBox="1"/>
          <p:nvPr/>
        </p:nvSpPr>
        <p:spPr>
          <a:xfrm>
            <a:off x="0" y="0"/>
            <a:ext cx="2512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</p:txBody>
      </p:sp>
    </p:spTree>
    <p:extLst>
      <p:ext uri="{BB962C8B-B14F-4D97-AF65-F5344CB8AC3E}">
        <p14:creationId xmlns:p14="http://schemas.microsoft.com/office/powerpoint/2010/main" val="692986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4ED6-09D8-459C-D983-5A2416AE7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4E4B533-B948-0863-1FBE-02086123E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8111" y="3124940"/>
            <a:ext cx="1215777" cy="608119"/>
          </a:xfrm>
        </p:spPr>
        <p:txBody>
          <a:bodyPr>
            <a:normAutofit/>
          </a:bodyPr>
          <a:lstStyle/>
          <a:p>
            <a:pPr algn="l"/>
            <a:r>
              <a:rPr lang="en-US" sz="3200" b="1" i="1" dirty="0"/>
              <a:t>END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253E30-4F83-AA18-93A2-E6797CD9FA45}"/>
              </a:ext>
            </a:extLst>
          </p:cNvPr>
          <p:cNvSpPr txBox="1"/>
          <p:nvPr/>
        </p:nvSpPr>
        <p:spPr>
          <a:xfrm>
            <a:off x="0" y="0"/>
            <a:ext cx="2512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 456</a:t>
            </a:r>
          </a:p>
          <a:p>
            <a:pPr algn="ctr"/>
            <a:r>
              <a:rPr lang="en-US" dirty="0"/>
              <a:t>RF &amp; mm-Wave Circuits</a:t>
            </a:r>
          </a:p>
        </p:txBody>
      </p:sp>
    </p:spTree>
    <p:extLst>
      <p:ext uri="{BB962C8B-B14F-4D97-AF65-F5344CB8AC3E}">
        <p14:creationId xmlns:p14="http://schemas.microsoft.com/office/powerpoint/2010/main" val="818056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917d96e-c649-4af1-abec-39eda19a164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456C66F71DFB49941FD741C828F641" ma:contentTypeVersion="13" ma:contentTypeDescription="Create a new document." ma:contentTypeScope="" ma:versionID="ed06921c1aed1e94f56a94a4c9856aba">
  <xsd:schema xmlns:xsd="http://www.w3.org/2001/XMLSchema" xmlns:xs="http://www.w3.org/2001/XMLSchema" xmlns:p="http://schemas.microsoft.com/office/2006/metadata/properties" xmlns:ns3="2917d96e-c649-4af1-abec-39eda19a1647" xmlns:ns4="a13884e4-6bf8-41fb-9d0f-7f4393c10574" targetNamespace="http://schemas.microsoft.com/office/2006/metadata/properties" ma:root="true" ma:fieldsID="2ab96402eebdeb015cf62eb9c5790020" ns3:_="" ns4:_="">
    <xsd:import namespace="2917d96e-c649-4af1-abec-39eda19a1647"/>
    <xsd:import namespace="a13884e4-6bf8-41fb-9d0f-7f4393c105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17d96e-c649-4af1-abec-39eda19a16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884e4-6bf8-41fb-9d0f-7f4393c1057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96F8CD-BBB8-4C1A-A58C-DE37EB2F8C5B}">
  <ds:schemaRefs>
    <ds:schemaRef ds:uri="http://schemas.microsoft.com/office/2006/metadata/properties"/>
    <ds:schemaRef ds:uri="http://purl.org/dc/elements/1.1/"/>
    <ds:schemaRef ds:uri="a13884e4-6bf8-41fb-9d0f-7f4393c10574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2917d96e-c649-4af1-abec-39eda19a1647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889695A-2645-4BBA-80F2-0D520C1614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17d96e-c649-4af1-abec-39eda19a1647"/>
    <ds:schemaRef ds:uri="a13884e4-6bf8-41fb-9d0f-7f4393c105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55BCBF-6A4A-48E4-AA83-BC4FDBFE85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1499</Words>
  <Application>Microsoft Macintosh PowerPoint</Application>
  <PresentationFormat>Widescreen</PresentationFormat>
  <Paragraphs>629</Paragraphs>
  <Slides>41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Arial</vt:lpstr>
      <vt:lpstr>Calibri</vt:lpstr>
      <vt:lpstr>Cambria Math</vt:lpstr>
      <vt:lpstr>Helvetica</vt:lpstr>
      <vt:lpstr>Times New Roman</vt:lpstr>
      <vt:lpstr>Office Theme</vt:lpstr>
      <vt:lpstr>Design Project 2 </vt:lpstr>
      <vt:lpstr>PowerPoint Presentation</vt:lpstr>
      <vt:lpstr>PowerPoint Presentation</vt:lpstr>
      <vt:lpstr>PowerPoint Presentation</vt:lpstr>
      <vt:lpstr>PowerPoint Presentation</vt:lpstr>
      <vt:lpstr>MAG Design</vt:lpstr>
      <vt:lpstr>MAG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Material Submitted to Kodiak: - Excel - Matlab Code - ADS Files - Scans / Screenshots</vt:lpstr>
      <vt:lpstr>Appendix I — Excel Spreadsheets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01</dc:title>
  <dc:creator>Joseph Connor</dc:creator>
  <cp:lastModifiedBy>Steven Michael Placzek</cp:lastModifiedBy>
  <cp:revision>482</cp:revision>
  <dcterms:created xsi:type="dcterms:W3CDTF">2024-09-03T02:12:47Z</dcterms:created>
  <dcterms:modified xsi:type="dcterms:W3CDTF">2025-03-26T06:06:54Z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0x01010078456C66F71DFB49941FD741C828F641</vt:lpwstr>
  </property>
  <property fmtid="{D5CDD505-2E9C-101B-9397-08002B2CF9AE}" pid="3" name="MSIP_Label_cc4f9dd6-a4b8-4763-a61d-db8d0cf51108_ActionId">
    <vt:lpwstr>5f814cfd-8792-4c9b-92cb-e19e562b55a4</vt:lpwstr>
  </property>
  <property fmtid="{D5CDD505-2E9C-101B-9397-08002B2CF9AE}" pid="4" name="MSIP_Label_cc4f9dd6-a4b8-4763-a61d-db8d0cf51108_Enabled">
    <vt:lpwstr>true</vt:lpwstr>
  </property>
  <property fmtid="{D5CDD505-2E9C-101B-9397-08002B2CF9AE}" pid="5" name="MSIP_Label_cc4f9dd6-a4b8-4763-a61d-db8d0cf51108_Name">
    <vt:lpwstr>defa4170-0d19-0005-0004-bc88714345d2</vt:lpwstr>
  </property>
  <property fmtid="{D5CDD505-2E9C-101B-9397-08002B2CF9AE}" pid="6" name="MSIP_Label_cc4f9dd6-a4b8-4763-a61d-db8d0cf51108_SiteId">
    <vt:lpwstr>b5a5796f-19a9-493f-9cb2-7a88b4e9b123</vt:lpwstr>
  </property>
  <property fmtid="{D5CDD505-2E9C-101B-9397-08002B2CF9AE}" pid="7" name="MSIP_Label_cc4f9dd6-a4b8-4763-a61d-db8d0cf51108_Method">
    <vt:lpwstr>Standard</vt:lpwstr>
  </property>
  <property fmtid="{D5CDD505-2E9C-101B-9397-08002B2CF9AE}" pid="8" name="MSIP_Label_cc4f9dd6-a4b8-4763-a61d-db8d0cf51108_SetDate">
    <vt:lpwstr>2024-09-09T12:51:00Z</vt:lpwstr>
  </property>
  <property fmtid="{D5CDD505-2E9C-101B-9397-08002B2CF9AE}" pid="9" name="MSIP_Label_cc4f9dd6-a4b8-4763-a61d-db8d0cf51108_ContentBits">
    <vt:lpwstr>0</vt:lpwstr>
  </property>
</Properties>
</file>
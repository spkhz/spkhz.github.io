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2"/>
  </p:notesMasterIdLst>
  <p:sldIdLst>
    <p:sldId id="256" r:id="rId5"/>
    <p:sldId id="259" r:id="rId6"/>
    <p:sldId id="263" r:id="rId7"/>
    <p:sldId id="290" r:id="rId8"/>
    <p:sldId id="386" r:id="rId9"/>
    <p:sldId id="385" r:id="rId10"/>
    <p:sldId id="388" r:id="rId11"/>
    <p:sldId id="387" r:id="rId12"/>
    <p:sldId id="389" r:id="rId13"/>
    <p:sldId id="351" r:id="rId14"/>
    <p:sldId id="390" r:id="rId15"/>
    <p:sldId id="393" r:id="rId16"/>
    <p:sldId id="391" r:id="rId17"/>
    <p:sldId id="392" r:id="rId18"/>
    <p:sldId id="395" r:id="rId19"/>
    <p:sldId id="362" r:id="rId20"/>
    <p:sldId id="394" r:id="rId21"/>
    <p:sldId id="397" r:id="rId22"/>
    <p:sldId id="399" r:id="rId23"/>
    <p:sldId id="396" r:id="rId24"/>
    <p:sldId id="364" r:id="rId25"/>
    <p:sldId id="398" r:id="rId26"/>
    <p:sldId id="365" r:id="rId27"/>
    <p:sldId id="307" r:id="rId28"/>
    <p:sldId id="346" r:id="rId29"/>
    <p:sldId id="334" r:id="rId30"/>
    <p:sldId id="38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4589"/>
  </p:normalViewPr>
  <p:slideViewPr>
    <p:cSldViewPr>
      <p:cViewPr varScale="1">
        <p:scale>
          <a:sx n="120" d="100"/>
          <a:sy n="120" d="100"/>
        </p:scale>
        <p:origin x="14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8B1CC1-A826-A847-A44F-30D438E51C7F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C93CB9-6233-754C-9DA3-8BC5A77C3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420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EED29-C7C1-76A4-EDE9-D7D130D32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B53DF3-D912-38B2-DC6A-0A33D2C18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534E3B-5D56-A7B4-0F48-BF956E7A6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E04B9-3D39-ECA6-2B2A-541C456753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93CB9-6233-754C-9DA3-8BC5A77C3D6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399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C49A8-A185-C799-E1D3-179BC8E31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5B7471-23F2-EBB7-C794-484055C2CA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893E23-A40B-2959-3393-5A936F454F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3C708-5745-4F28-5BE2-83CF04D839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93CB9-6233-754C-9DA3-8BC5A77C3D6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7978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8DC7D-0CA5-B61B-F3F7-F0A42628E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3C456A-26B0-FB30-F8DE-7B4C1C0BB2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C7342-F4A1-33E1-6E03-68ACD161E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34367-2465-CBB9-1FE2-F663C98B9F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93CB9-6233-754C-9DA3-8BC5A77C3D6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417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93CB9-6233-754C-9DA3-8BC5A77C3D6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593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A8DD6-D910-CFF4-7F3D-3D2A87E9B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9D482-564F-F655-114E-086CFC51C4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96FE69-9638-05FF-63D0-4E2C611CCA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76FF8-2051-B733-5AFE-E9606DF74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93CB9-6233-754C-9DA3-8BC5A77C3D6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3457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E9273-88BB-A487-EF5D-911AE0573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19408-093D-52DF-9C0B-AE1AE3CB90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6EB996-F111-921E-5D41-5382C4A9B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B9628-B415-12F6-9536-D2B4BEF217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93CB9-6233-754C-9DA3-8BC5A77C3D6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4285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617FF-ADCF-0C33-F67C-760D6B422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95FEE0-0956-D50B-228A-15960AF248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CCD11E-1963-0780-C3BF-EB0B12EF7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529CA7-8E0B-0222-CDA6-0B8915B288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93CB9-6233-754C-9DA3-8BC5A77C3D6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460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EF26D-78D8-4BB8-D117-61E335A46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5CA395-8D17-C6F1-DAF4-940C49824D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4BABAA-181B-4650-C747-AF9949EBAF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1F487-8391-DDED-96B3-A2BD826432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93CB9-6233-754C-9DA3-8BC5A77C3D6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2079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BD2B7-0DB1-11C4-A0D0-6D8B44DE6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F978DE-B106-9EC0-A080-C32780E0B7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443FC6-A14A-BA42-3154-87CEAA61D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E396E-8055-7AFF-3B2D-FD91D9AA61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93CB9-6233-754C-9DA3-8BC5A77C3D6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0564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95E77-9067-AC23-F10B-6D4756955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5C11BE-925B-6ED9-FD0F-8A87BC44D5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8BADD1-1B96-3C3F-45C8-82FEA8EC9F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E2397-D9DE-F1BD-7EC2-4FB0F3E8C9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93CB9-6233-754C-9DA3-8BC5A77C3D6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0313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87EA1-09E6-3DDB-BB89-B1098CEAA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53B774-A011-AC7A-BAF5-EF60D1FD24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BA01BE-497D-2BA6-61EF-87797EB5D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EF209-D389-BD09-D409-569B468191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93CB9-6233-754C-9DA3-8BC5A77C3D6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0889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2E259-6499-F854-6A5F-0DCF1A2EB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410DD-1A64-E418-C092-852455568C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8D17C3-F407-96FF-7F77-73A5A52AD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32A17-A433-EB8A-DDC6-C15ECB2EFA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93CB9-6233-754C-9DA3-8BC5A77C3D6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3525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BC58E-FE08-50F5-A26C-7FDE7B37C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80A693-38EE-CDAE-C9FC-0A3229B1D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8EC945-DDAA-E255-FF27-D9511F4D4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B1984-AC98-8696-1F78-7C023B7544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93CB9-6233-754C-9DA3-8BC5A77C3D6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8628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4BE09-EA74-0BF8-C9CE-F1E53F824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AF671D-9CA7-04A4-E830-D73E4D0B7A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26E2DD-8A6F-B948-9214-EA8FA9766A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EF220-D433-A686-9710-6CB92B4F08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93CB9-6233-754C-9DA3-8BC5A77C3D6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9894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9B584-4268-05E1-9D4B-BF8A91C66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58ABAE-69F2-8DD4-3B0B-382F3BC15A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D5FF14-A808-27DE-E207-BFD631E71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151A7-5A08-8D8E-EEE8-656B230562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93CB9-6233-754C-9DA3-8BC5A77C3D6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7263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8080B-6EA1-4B3D-D12B-BF963E0E1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3B830F-B818-BD5B-23C0-C06B78D95A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485BE1-BCB3-8EF9-E097-9D1467A77F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483E3-DB12-0294-B38F-7C106C565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93CB9-6233-754C-9DA3-8BC5A77C3D6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5078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A59DD-AF8A-5743-B33F-833D86B6A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4AA44A-1ED9-191C-9565-51F9B5FF03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D5E45B-FEE1-0137-0918-1EFD6C0A3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F10A7-D435-071D-D19A-6D77D4E84E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93CB9-6233-754C-9DA3-8BC5A77C3D6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77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534F4-30F1-4B28-2E50-678B3D304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7A4637-A8FF-9F5A-7BC4-3FDC0D9508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711D5-BDC8-C1E8-1576-5ED57CC84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77E9-5544-4AEA-B9E9-04E55BD818BA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7162A-E92C-3EAF-BC6A-FC48DAC2E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FB73C-A231-A689-E0F3-32827B8AE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3808-3BE6-4A36-B0A5-778630D5B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139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74311-2DBC-7813-A7C2-01BA12EC3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B4779-E5A1-C928-7D23-A330DCF71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09CDE-79FC-FA90-63DE-89E216171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77E9-5544-4AEA-B9E9-04E55BD818BA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B0F62-2924-5F0F-2A0E-955A224CE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7388D-A84A-CD86-7CC6-E033D6FFA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3808-3BE6-4A36-B0A5-778630D5B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521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DED50-0BFC-728C-9D49-0D5DCCC66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08ED0-8E7C-889E-E94D-A66FA7163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6AA10-0214-D3B8-F946-724892E26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77E9-5544-4AEA-B9E9-04E55BD818BA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61621-686F-4399-5159-166745B52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4404B-5CA2-A1E1-39EB-EDFB789FD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3808-3BE6-4A36-B0A5-778630D5B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811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10BEC-1E75-B086-28F8-F2B4120C4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184C5-9265-A5A3-E144-37011FE4F7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D07AA2-79C4-16BA-53CB-0A51F68B1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F26B55-0324-6AEA-0A4A-4D0694DB6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77E9-5544-4AEA-B9E9-04E55BD818BA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48896F-7307-0DD6-3722-8BDA2859D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BE70F-1FDB-E525-D70A-ED5F00ECD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3808-3BE6-4A36-B0A5-778630D5B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430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50FE3-0518-E42C-0B00-DA34A1299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39AD9-FDB3-4571-1C62-41EFB87A1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9F1FA9-523D-CD35-83AB-57B52C281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B4C2E7-E705-DD5C-203F-C4B0B572F3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E60AE7-1CED-F4BF-18E2-65C11F128A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34581D-FBC7-1579-DF39-9CBA45C5F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77E9-5544-4AEA-B9E9-04E55BD818BA}" type="datetimeFigureOut">
              <a:rPr lang="en-US" smtClean="0"/>
              <a:t>1/18/26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D2D223-7115-5459-6AFD-198F6C1AE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1992E9-27FA-8CFB-2744-7D747A6A7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3808-3BE6-4A36-B0A5-778630D5B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134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5D627-4F07-14E4-F949-A66A15F55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852772-64C8-3DAA-3889-D6AB68528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77E9-5544-4AEA-B9E9-04E55BD818BA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17B9D5-05B2-F5EA-6246-F3A08B259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44F913-3372-26DE-A31C-E4958403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3808-3BE6-4A36-B0A5-778630D5B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900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88046C-8481-BEAF-AB50-63AE9128A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77E9-5544-4AEA-B9E9-04E55BD818BA}" type="datetimeFigureOut">
              <a:rPr lang="en-US" smtClean="0"/>
              <a:t>1/18/26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97D4A8-D7FC-6BDF-75A7-14EA95698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0880A-7A6B-0D40-C540-E5DA1A760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3808-3BE6-4A36-B0A5-778630D5B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125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3CACF-7EAF-2BC7-E0E0-290F4D5D1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86752-0F0E-A030-FD1D-117FFAC52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555F66-BC7A-E22F-099C-929F974AAE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FE503-79CB-ABF8-772A-E0B0C2987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77E9-5544-4AEA-B9E9-04E55BD818BA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501B9F-0A90-CFB1-61BA-E07630E14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62443-7276-B190-6973-C892DF9E9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3808-3BE6-4A36-B0A5-778630D5B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109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62ABF-B6A8-1562-3407-BE38C941C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2C7DD2-C134-E532-4671-55163EE8F6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5D21AC-2274-8C40-861B-A2DF6C9D8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9DB96-F55F-EB33-7DD2-62ADA925E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77E9-5544-4AEA-B9E9-04E55BD818BA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CC9D1-4E25-7ECF-E800-942B65EC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0BCCC6-50C2-5C0A-6767-BAF58BFDE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3808-3BE6-4A36-B0A5-778630D5B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326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465FA-350F-C5F2-7B5E-7DDC6C6A6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5CB422-5853-9A0F-E84F-982AF870B9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70F7E-1E3A-7A9A-6EE1-D2F74040D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77E9-5544-4AEA-B9E9-04E55BD818BA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B6320-F0AC-D75A-FF39-F2C6455C6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095FD-1D1E-5084-9C40-CBDA833B8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3808-3BE6-4A36-B0A5-778630D5B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62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834CFF-1BD6-C180-916E-7CAE227668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B6D466-F706-9770-79B4-4E9F823B3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3FE74-B08B-974C-DD65-F135CA6EB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77E9-5544-4AEA-B9E9-04E55BD818BA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C3FBA-8A07-86CD-8558-4C6D64324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6C860-0C2F-01A4-5231-98C94B5E1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3808-3BE6-4A36-B0A5-778630D5B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239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9DA1B5-6F65-89BC-E450-932A6B25D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39E13-E58D-C4F5-994B-79A0FC590E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9A65C-8839-67ED-0A37-8CD613ACAC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Helvetica" pitchFamily="2" charset="0"/>
              </a:defRPr>
            </a:lvl1pPr>
          </a:lstStyle>
          <a:p>
            <a:fld id="{425577E9-5544-4AEA-B9E9-04E55BD818BA}" type="datetimeFigureOut">
              <a:rPr lang="en-US" smtClean="0"/>
              <a:pPr/>
              <a:t>1/18/26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32406-D87E-39BB-2313-7374C2012B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Helvetica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8B3D8-69D5-3617-9755-D4F3FEDEA7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Helvetica" pitchFamily="2" charset="0"/>
              </a:defRPr>
            </a:lvl1pPr>
          </a:lstStyle>
          <a:p>
            <a:fld id="{95F43808-3BE6-4A36-B0A5-778630D5B92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48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41454C97-8995-AC7B-27AC-E1AB6C63A9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1262"/>
          <a:stretch/>
        </p:blipFill>
        <p:spPr>
          <a:xfrm>
            <a:off x="2060" y="431634"/>
            <a:ext cx="12189940" cy="128618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24315AD-32BB-5472-6640-5B1A410158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9921" y="2878128"/>
            <a:ext cx="9144000" cy="1101744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6600" dirty="0">
                <a:cs typeface="Times New Roman"/>
              </a:rPr>
              <a:t>Design Project 3 </a:t>
            </a:r>
            <a:endParaRPr lang="en-US" sz="4800" dirty="0"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B9BCE2-3859-515B-55BD-D3BA9BF4C518}"/>
              </a:ext>
            </a:extLst>
          </p:cNvPr>
          <p:cNvSpPr txBox="1"/>
          <p:nvPr/>
        </p:nvSpPr>
        <p:spPr>
          <a:xfrm>
            <a:off x="3409435" y="480496"/>
            <a:ext cx="53731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Western New England University</a:t>
            </a:r>
          </a:p>
          <a:p>
            <a:pPr algn="ctr"/>
            <a:r>
              <a:rPr lang="en-US" sz="2000" dirty="0"/>
              <a:t>College of Engineering</a:t>
            </a:r>
          </a:p>
          <a:p>
            <a:pPr algn="ctr"/>
            <a:r>
              <a:rPr lang="en-US" sz="2000" dirty="0"/>
              <a:t>EE 456 RF &amp; mm-Wave Active Circuits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102CBE-18BD-B370-10BA-65BAF35B268F}"/>
              </a:ext>
            </a:extLst>
          </p:cNvPr>
          <p:cNvSpPr txBox="1"/>
          <p:nvPr/>
        </p:nvSpPr>
        <p:spPr>
          <a:xfrm>
            <a:off x="228600" y="757494"/>
            <a:ext cx="2171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cs typeface="Times New Roman"/>
              </a:rPr>
              <a:t>Steven Placzek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C559A0-4D7D-E89D-7A3F-E16601CC96D1}"/>
              </a:ext>
            </a:extLst>
          </p:cNvPr>
          <p:cNvSpPr txBox="1"/>
          <p:nvPr/>
        </p:nvSpPr>
        <p:spPr>
          <a:xfrm>
            <a:off x="2831567" y="3979872"/>
            <a:ext cx="65288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Matching Network Synthesis Techniques Using</a:t>
            </a:r>
          </a:p>
          <a:p>
            <a:pPr algn="ctr"/>
            <a:r>
              <a:rPr lang="en-US" sz="3600" dirty="0"/>
              <a:t>Chebyshev Polynomials</a:t>
            </a:r>
          </a:p>
        </p:txBody>
      </p:sp>
    </p:spTree>
    <p:extLst>
      <p:ext uri="{BB962C8B-B14F-4D97-AF65-F5344CB8AC3E}">
        <p14:creationId xmlns:p14="http://schemas.microsoft.com/office/powerpoint/2010/main" val="1477945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AAFD5C-DCD7-47E5-ACEB-975A2D7B5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39296"/>
            <a:ext cx="7772400" cy="61794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0C8D1D-E48D-9662-8D0E-2430EDF7EB90}"/>
              </a:ext>
            </a:extLst>
          </p:cNvPr>
          <p:cNvSpPr txBox="1"/>
          <p:nvPr/>
        </p:nvSpPr>
        <p:spPr>
          <a:xfrm>
            <a:off x="9951218" y="0"/>
            <a:ext cx="2240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EE 456</a:t>
            </a:r>
          </a:p>
          <a:p>
            <a:pPr algn="ctr"/>
            <a:r>
              <a:rPr lang="en-US" sz="1200" dirty="0"/>
              <a:t>RF &amp; mm-Wave Active Circuits</a:t>
            </a:r>
          </a:p>
          <a:p>
            <a:pPr algn="ctr"/>
            <a:r>
              <a:rPr lang="en-US" sz="1200" dirty="0"/>
              <a:t>Design Project 3</a:t>
            </a:r>
          </a:p>
        </p:txBody>
      </p:sp>
    </p:spTree>
    <p:extLst>
      <p:ext uri="{BB962C8B-B14F-4D97-AF65-F5344CB8AC3E}">
        <p14:creationId xmlns:p14="http://schemas.microsoft.com/office/powerpoint/2010/main" val="694240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583A7-F82F-B9FF-9F77-0E757A4C4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4A7C33AB-4354-4D3B-33BC-906A33BE5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0"/>
            <a:ext cx="12189939" cy="6936259"/>
          </a:xfrm>
          <a:prstGeom prst="rect">
            <a:avLst/>
          </a:prstGeom>
        </p:spPr>
      </p:pic>
      <p:sp>
        <p:nvSpPr>
          <p:cNvPr id="5" name="Title 8">
            <a:extLst>
              <a:ext uri="{FF2B5EF4-FFF2-40B4-BE49-F238E27FC236}">
                <a16:creationId xmlns:a16="http://schemas.microsoft.com/office/drawing/2014/main" id="{6A2DC5DD-C84E-F373-C682-579CF109DABC}"/>
              </a:ext>
            </a:extLst>
          </p:cNvPr>
          <p:cNvSpPr txBox="1">
            <a:spLocks/>
          </p:cNvSpPr>
          <p:nvPr/>
        </p:nvSpPr>
        <p:spPr>
          <a:xfrm>
            <a:off x="1099327" y="923330"/>
            <a:ext cx="9991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Helvetica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Design Project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CE92D5-B47D-B0D1-E4D4-AC2E04456FE4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113D3A-A669-A8A6-10B3-1F286C8AA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811" y="2115346"/>
            <a:ext cx="7834310" cy="10568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F7CC20-503C-0ED6-C29D-1AFE97C5B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4415" y="3239976"/>
            <a:ext cx="6887487" cy="12095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5F4602-534A-AF83-8161-99A633C84B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4415" y="4725160"/>
            <a:ext cx="6611988" cy="120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253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D76D4-5F25-6739-50D2-1E282B538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E8FB32-5395-2D14-CF86-715D4430D606}"/>
              </a:ext>
            </a:extLst>
          </p:cNvPr>
          <p:cNvSpPr txBox="1"/>
          <p:nvPr/>
        </p:nvSpPr>
        <p:spPr>
          <a:xfrm>
            <a:off x="2513592" y="90269"/>
            <a:ext cx="71648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Design and Simulation 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7BBE99-3AFD-5394-0F7A-30202534DB3B}"/>
              </a:ext>
            </a:extLst>
          </p:cNvPr>
          <p:cNvSpPr txBox="1"/>
          <p:nvPr/>
        </p:nvSpPr>
        <p:spPr>
          <a:xfrm>
            <a:off x="5715000" y="5867400"/>
            <a:ext cx="882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Table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B71BB-F477-3ED4-74DA-4B978324186F}"/>
              </a:ext>
            </a:extLst>
          </p:cNvPr>
          <p:cNvSpPr txBox="1"/>
          <p:nvPr/>
        </p:nvSpPr>
        <p:spPr>
          <a:xfrm>
            <a:off x="9951218" y="0"/>
            <a:ext cx="2240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EE 456</a:t>
            </a:r>
          </a:p>
          <a:p>
            <a:pPr algn="ctr"/>
            <a:r>
              <a:rPr lang="en-US" sz="1200" dirty="0"/>
              <a:t>RF &amp; mm-Wave Active Circuits</a:t>
            </a:r>
          </a:p>
          <a:p>
            <a:pPr algn="ctr"/>
            <a:r>
              <a:rPr lang="en-US" sz="1200" dirty="0"/>
              <a:t>Design Project 3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5A6AD22-A30B-8881-84EC-5FA59DECC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411599"/>
              </p:ext>
            </p:extLst>
          </p:nvPr>
        </p:nvGraphicFramePr>
        <p:xfrm>
          <a:off x="3841750" y="1371600"/>
          <a:ext cx="4508500" cy="4400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2767">
                  <a:extLst>
                    <a:ext uri="{9D8B030D-6E8A-4147-A177-3AD203B41FA5}">
                      <a16:colId xmlns:a16="http://schemas.microsoft.com/office/drawing/2014/main" val="903824917"/>
                    </a:ext>
                  </a:extLst>
                </a:gridCol>
                <a:gridCol w="996477">
                  <a:extLst>
                    <a:ext uri="{9D8B030D-6E8A-4147-A177-3AD203B41FA5}">
                      <a16:colId xmlns:a16="http://schemas.microsoft.com/office/drawing/2014/main" val="556867573"/>
                    </a:ext>
                  </a:extLst>
                </a:gridCol>
                <a:gridCol w="1169198">
                  <a:extLst>
                    <a:ext uri="{9D8B030D-6E8A-4147-A177-3AD203B41FA5}">
                      <a16:colId xmlns:a16="http://schemas.microsoft.com/office/drawing/2014/main" val="3482728732"/>
                    </a:ext>
                  </a:extLst>
                </a:gridCol>
                <a:gridCol w="1240058">
                  <a:extLst>
                    <a:ext uri="{9D8B030D-6E8A-4147-A177-3AD203B41FA5}">
                      <a16:colId xmlns:a16="http://schemas.microsoft.com/office/drawing/2014/main" val="3439550638"/>
                    </a:ext>
                  </a:extLst>
                </a:gridCol>
              </a:tblGrid>
              <a:tr h="2316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Parameter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Value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Unit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Connection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2565100"/>
                  </a:ext>
                </a:extLst>
              </a:tr>
              <a:tr h="2316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Z0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Ω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Termination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385881"/>
                  </a:ext>
                </a:extLst>
              </a:tr>
              <a:tr h="2316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Li7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852.9341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pH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Shunt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9856962"/>
                  </a:ext>
                </a:extLst>
              </a:tr>
              <a:tr h="2316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Ci6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58.435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fF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Shunt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535360"/>
                  </a:ext>
                </a:extLst>
              </a:tr>
              <a:tr h="2316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Ci5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288.7183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fF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Series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445822"/>
                  </a:ext>
                </a:extLst>
              </a:tr>
              <a:tr h="2316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Ci4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208.6043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fF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Shunt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005768"/>
                  </a:ext>
                </a:extLst>
              </a:tr>
              <a:tr h="2316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Li3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459.9278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pH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Shunt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7241203"/>
                  </a:ext>
                </a:extLst>
              </a:tr>
              <a:tr h="2316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Li2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673.0577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pH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Series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5691412"/>
                  </a:ext>
                </a:extLst>
              </a:tr>
              <a:tr h="2316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Ci1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Series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727725"/>
                  </a:ext>
                </a:extLst>
              </a:tr>
              <a:tr h="231608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FET Gate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13480"/>
                  </a:ext>
                </a:extLst>
              </a:tr>
              <a:tr h="231608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FET Drain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800387"/>
                  </a:ext>
                </a:extLst>
              </a:tr>
              <a:tr h="2316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Co1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Series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340710"/>
                  </a:ext>
                </a:extLst>
              </a:tr>
              <a:tr h="2316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Lo2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742.7129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pH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Series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790663"/>
                  </a:ext>
                </a:extLst>
              </a:tr>
              <a:tr h="2316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Co3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297.2859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fF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Shunt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9704607"/>
                  </a:ext>
                </a:extLst>
              </a:tr>
              <a:tr h="2316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Lo4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40.0358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pH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Shunt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056583"/>
                  </a:ext>
                </a:extLst>
              </a:tr>
              <a:tr h="2316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Lo5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433.3263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pH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Series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9302904"/>
                  </a:ext>
                </a:extLst>
              </a:tr>
              <a:tr h="2316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Lo6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535.4052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pH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Shunt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8995146"/>
                  </a:ext>
                </a:extLst>
              </a:tr>
              <a:tr h="2316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Co7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245.9962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fF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Series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3086857"/>
                  </a:ext>
                </a:extLst>
              </a:tr>
              <a:tr h="2316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Z0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Ω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Termination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1596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9726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C6ED1-BAD9-2FE3-4825-6C986CBD8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213" y="381000"/>
            <a:ext cx="7543800" cy="1325563"/>
          </a:xfrm>
        </p:spPr>
        <p:txBody>
          <a:bodyPr/>
          <a:lstStyle/>
          <a:p>
            <a:r>
              <a:rPr lang="en-US" dirty="0"/>
              <a:t>ADS Schematic of Design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BC26B5-629F-2DC4-FEC7-5151A2AD09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99" y="2119447"/>
            <a:ext cx="11728828" cy="3382344"/>
          </a:xfrm>
        </p:spPr>
      </p:pic>
    </p:spTree>
    <p:extLst>
      <p:ext uri="{BB962C8B-B14F-4D97-AF65-F5344CB8AC3E}">
        <p14:creationId xmlns:p14="http://schemas.microsoft.com/office/powerpoint/2010/main" val="1746299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85B2B-957D-B315-3BC8-84CA32869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27487F52-E5EE-37C6-1E66-56B8C1F51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" y="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FE85711-F767-E93B-2FA2-7797CB6ADA3B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89774A-1E0F-EC35-6B60-C9735E488B4B}"/>
              </a:ext>
            </a:extLst>
          </p:cNvPr>
          <p:cNvSpPr txBox="1"/>
          <p:nvPr/>
        </p:nvSpPr>
        <p:spPr>
          <a:xfrm>
            <a:off x="2686220" y="3083408"/>
            <a:ext cx="681955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ADS &amp; MATLAB Simulations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915DD7-CACC-F8FE-4008-4DBA648FEC88}"/>
              </a:ext>
            </a:extLst>
          </p:cNvPr>
          <p:cNvSpPr txBox="1"/>
          <p:nvPr/>
        </p:nvSpPr>
        <p:spPr>
          <a:xfrm>
            <a:off x="3936818" y="215444"/>
            <a:ext cx="43183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Design Verification</a:t>
            </a:r>
          </a:p>
        </p:txBody>
      </p:sp>
    </p:spTree>
    <p:extLst>
      <p:ext uri="{BB962C8B-B14F-4D97-AF65-F5344CB8AC3E}">
        <p14:creationId xmlns:p14="http://schemas.microsoft.com/office/powerpoint/2010/main" val="4057331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32A99-9EA0-33FE-CE54-EF3DA3B05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C42FD420-14C8-597B-2921-BFBF6B3F3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13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C067F11-808C-E7FB-B135-681C0D54F865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22C7B4-7B64-A51A-68D0-6CF50BA273FA}"/>
              </a:ext>
            </a:extLst>
          </p:cNvPr>
          <p:cNvSpPr txBox="1"/>
          <p:nvPr/>
        </p:nvSpPr>
        <p:spPr>
          <a:xfrm>
            <a:off x="4282453" y="214748"/>
            <a:ext cx="42120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Matlab</a:t>
            </a:r>
            <a:r>
              <a:rPr lang="en-US" sz="4000" dirty="0"/>
              <a:t> Simulation</a:t>
            </a:r>
          </a:p>
        </p:txBody>
      </p:sp>
      <p:pic>
        <p:nvPicPr>
          <p:cNvPr id="4" name="Picture 3" descr="A graph with a red line&#10;&#10;AI-generated content may be incorrect.">
            <a:extLst>
              <a:ext uri="{FF2B5EF4-FFF2-40B4-BE49-F238E27FC236}">
                <a16:creationId xmlns:a16="http://schemas.microsoft.com/office/drawing/2014/main" id="{DDCF46C6-8837-82F7-5723-CED16B8109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275982"/>
            <a:ext cx="8305800" cy="557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15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9D296-4B64-709A-721E-540C10CCE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90565691-E51E-A256-2F74-81F0437D1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13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2CAD45-4D48-3C18-4FD1-95DF488A5030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C9569F-4512-7A4E-F2FE-024848069554}"/>
              </a:ext>
            </a:extLst>
          </p:cNvPr>
          <p:cNvSpPr txBox="1"/>
          <p:nvPr/>
        </p:nvSpPr>
        <p:spPr>
          <a:xfrm>
            <a:off x="4282453" y="214748"/>
            <a:ext cx="42120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Matlab</a:t>
            </a:r>
            <a:r>
              <a:rPr lang="en-US" sz="4000" dirty="0"/>
              <a:t> Simulation</a:t>
            </a:r>
          </a:p>
        </p:txBody>
      </p:sp>
      <p:pic>
        <p:nvPicPr>
          <p:cNvPr id="4" name="Picture 3" descr="A graph with a red line&#10;&#10;AI-generated content may be incorrect.">
            <a:extLst>
              <a:ext uri="{FF2B5EF4-FFF2-40B4-BE49-F238E27FC236}">
                <a16:creationId xmlns:a16="http://schemas.microsoft.com/office/drawing/2014/main" id="{9299D3FD-6059-A621-BB35-0027EC5926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2758" y="1447800"/>
            <a:ext cx="8266484" cy="538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303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F7216-F0A8-EF98-9EBB-C9E8B7557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DCA6B6D5-6D4C-9E3D-27FB-02494228D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13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B6A4912-9987-89F1-0982-06179B297CDC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7F2D63-BD59-11F3-09DF-78E9E08CC71F}"/>
              </a:ext>
            </a:extLst>
          </p:cNvPr>
          <p:cNvSpPr txBox="1"/>
          <p:nvPr/>
        </p:nvSpPr>
        <p:spPr>
          <a:xfrm>
            <a:off x="4282453" y="214748"/>
            <a:ext cx="42120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Matlab</a:t>
            </a:r>
            <a:r>
              <a:rPr lang="en-US" sz="4000" dirty="0"/>
              <a:t> Simulation</a:t>
            </a:r>
          </a:p>
        </p:txBody>
      </p:sp>
      <p:pic>
        <p:nvPicPr>
          <p:cNvPr id="8" name="Picture 7" descr="A graph with a red line&#10;&#10;AI-generated content may be incorrect.">
            <a:extLst>
              <a:ext uri="{FF2B5EF4-FFF2-40B4-BE49-F238E27FC236}">
                <a16:creationId xmlns:a16="http://schemas.microsoft.com/office/drawing/2014/main" id="{7F147D22-5434-50D0-6724-7896C072BF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6884" y="1295400"/>
            <a:ext cx="8078231" cy="541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506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34C62-CAD6-942F-5B50-F9FBEF4AC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59BB2F73-9A30-832A-683C-775B53F0E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13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A93952-0481-A547-2272-F721A64FFB96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364EDA-FD84-3AF2-0C85-E35D406EA029}"/>
              </a:ext>
            </a:extLst>
          </p:cNvPr>
          <p:cNvSpPr txBox="1"/>
          <p:nvPr/>
        </p:nvSpPr>
        <p:spPr>
          <a:xfrm>
            <a:off x="4282453" y="214748"/>
            <a:ext cx="42120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Matlab</a:t>
            </a:r>
            <a:r>
              <a:rPr lang="en-US" sz="4000" dirty="0"/>
              <a:t> Simulation</a:t>
            </a:r>
          </a:p>
        </p:txBody>
      </p:sp>
      <p:pic>
        <p:nvPicPr>
          <p:cNvPr id="5" name="Picture 4" descr="A graph of a function&#10;&#10;AI-generated content may be incorrect.">
            <a:extLst>
              <a:ext uri="{FF2B5EF4-FFF2-40B4-BE49-F238E27FC236}">
                <a16:creationId xmlns:a16="http://schemas.microsoft.com/office/drawing/2014/main" id="{A372C399-82F1-703F-D845-66ACC9DA14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300" y="1143000"/>
            <a:ext cx="8153400" cy="545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734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0C8B5-EF44-F571-11B1-7785918FE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89DA2824-F014-509D-4319-4C8A4800A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13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009232-7FC3-8418-D305-0747D854BE9A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4765BB-C20F-09EA-D532-5ADA8D36A25B}"/>
              </a:ext>
            </a:extLst>
          </p:cNvPr>
          <p:cNvSpPr txBox="1"/>
          <p:nvPr/>
        </p:nvSpPr>
        <p:spPr>
          <a:xfrm>
            <a:off x="4282453" y="214748"/>
            <a:ext cx="42120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Matlab</a:t>
            </a:r>
            <a:r>
              <a:rPr lang="en-US" sz="4000" dirty="0"/>
              <a:t> Simulation</a:t>
            </a:r>
          </a:p>
        </p:txBody>
      </p:sp>
      <p:pic>
        <p:nvPicPr>
          <p:cNvPr id="4" name="Picture 3" descr="A graph with a red line&#10;&#10;AI-generated content may be incorrect.">
            <a:extLst>
              <a:ext uri="{FF2B5EF4-FFF2-40B4-BE49-F238E27FC236}">
                <a16:creationId xmlns:a16="http://schemas.microsoft.com/office/drawing/2014/main" id="{F97552D0-8DC0-B96F-8A0A-7271776542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295400"/>
            <a:ext cx="8077200" cy="5482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522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A6294-2AEE-D39D-994C-7A556EB68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D6554860-2226-BAF9-A01D-F1DF37E49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13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1255CEB-D315-72F3-EF22-20BA5CB463EF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AE9B8B-E8B1-7501-8A0E-DEFF9D6AD2C2}"/>
              </a:ext>
            </a:extLst>
          </p:cNvPr>
          <p:cNvSpPr txBox="1"/>
          <p:nvPr/>
        </p:nvSpPr>
        <p:spPr>
          <a:xfrm>
            <a:off x="4282453" y="214748"/>
            <a:ext cx="42120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Matlab</a:t>
            </a:r>
            <a:r>
              <a:rPr lang="en-US" sz="4000" dirty="0"/>
              <a:t> Simulation</a:t>
            </a:r>
          </a:p>
        </p:txBody>
      </p:sp>
      <p:pic>
        <p:nvPicPr>
          <p:cNvPr id="8" name="Picture 7" descr="A graph with a red line&#10;&#10;AI-generated content may be incorrect.">
            <a:extLst>
              <a:ext uri="{FF2B5EF4-FFF2-40B4-BE49-F238E27FC236}">
                <a16:creationId xmlns:a16="http://schemas.microsoft.com/office/drawing/2014/main" id="{B8DF6AF3-5EB5-A230-998A-69703BA822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484" y="1176007"/>
            <a:ext cx="8383031" cy="559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535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82AC6-631C-A394-F240-94460D9C9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AF6FCF16-0E95-5E32-90F8-64B51C8DE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13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B29540-0D9E-3F08-8D56-E12C3FE0CAD0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B14401-EA2E-3587-104F-F1910D7D01C4}"/>
              </a:ext>
            </a:extLst>
          </p:cNvPr>
          <p:cNvSpPr txBox="1"/>
          <p:nvPr/>
        </p:nvSpPr>
        <p:spPr>
          <a:xfrm>
            <a:off x="4282453" y="214748"/>
            <a:ext cx="42120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Matlab</a:t>
            </a:r>
            <a:r>
              <a:rPr lang="en-US" sz="4000" dirty="0"/>
              <a:t> Simulation</a:t>
            </a:r>
          </a:p>
        </p:txBody>
      </p:sp>
      <p:pic>
        <p:nvPicPr>
          <p:cNvPr id="4" name="Picture 3" descr="A graph with a red line&#10;&#10;AI-generated content may be incorrect.">
            <a:extLst>
              <a:ext uri="{FF2B5EF4-FFF2-40B4-BE49-F238E27FC236}">
                <a16:creationId xmlns:a16="http://schemas.microsoft.com/office/drawing/2014/main" id="{8FEBCBAC-63D5-B747-E4BE-A72DBFF2B1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384" y="1263993"/>
            <a:ext cx="8459231" cy="559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58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2245B-F7F9-04F4-C1FE-CD2B286AB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01AD0FE6-AB3A-8F58-80F3-5FFE04DA7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13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75AD39-3C29-47CB-BBE8-0C37C950DE84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EFE3A2-1F5D-1A6D-295D-ED4512BB359B}"/>
              </a:ext>
            </a:extLst>
          </p:cNvPr>
          <p:cNvSpPr txBox="1"/>
          <p:nvPr/>
        </p:nvSpPr>
        <p:spPr>
          <a:xfrm>
            <a:off x="4282453" y="214748"/>
            <a:ext cx="42120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Matlab</a:t>
            </a:r>
            <a:r>
              <a:rPr lang="en-US" sz="4000" dirty="0"/>
              <a:t> Simulation</a:t>
            </a:r>
          </a:p>
        </p:txBody>
      </p:sp>
      <p:pic>
        <p:nvPicPr>
          <p:cNvPr id="4" name="Picture 3" descr="A graph with a red line&#10;&#10;AI-generated content may be incorrect.">
            <a:extLst>
              <a:ext uri="{FF2B5EF4-FFF2-40B4-BE49-F238E27FC236}">
                <a16:creationId xmlns:a16="http://schemas.microsoft.com/office/drawing/2014/main" id="{4E7B441B-F9F1-9A93-B33D-442CDD94DC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069" y="1260329"/>
            <a:ext cx="8305800" cy="5585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907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630CA-79B1-A0DA-8966-D5B6C9668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C80C2861-C02A-A32F-C2FB-64976EA05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13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C30AC7-1055-54C3-5A0A-BAD7A600D997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31252F-9BD8-3E75-6D4F-5EC6C3E7C06E}"/>
              </a:ext>
            </a:extLst>
          </p:cNvPr>
          <p:cNvSpPr txBox="1"/>
          <p:nvPr/>
        </p:nvSpPr>
        <p:spPr>
          <a:xfrm>
            <a:off x="3048686" y="215444"/>
            <a:ext cx="60925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Matlab</a:t>
            </a:r>
            <a:r>
              <a:rPr lang="en-US" sz="4000" dirty="0"/>
              <a:t> vs ADS Simulations</a:t>
            </a:r>
          </a:p>
        </p:txBody>
      </p:sp>
      <p:pic>
        <p:nvPicPr>
          <p:cNvPr id="8" name="Picture 7" descr="A graph with a red dot and green line&#10;&#10;AI-generated content may be incorrect.">
            <a:extLst>
              <a:ext uri="{FF2B5EF4-FFF2-40B4-BE49-F238E27FC236}">
                <a16:creationId xmlns:a16="http://schemas.microsoft.com/office/drawing/2014/main" id="{8ABAF288-87F0-833E-95BB-BE7F25060E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935" y="1447800"/>
            <a:ext cx="8946130" cy="5027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06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E2CBD-8212-11D2-C2DB-A9F1C0856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64EA0722-65E6-46BE-F7EF-EDFD148E9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13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BC2D5A-6E7C-6114-4407-6F26EBE78DA4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F94203-FD76-8B9C-993C-5FD0BEEC9C8D}"/>
              </a:ext>
            </a:extLst>
          </p:cNvPr>
          <p:cNvSpPr txBox="1"/>
          <p:nvPr/>
        </p:nvSpPr>
        <p:spPr>
          <a:xfrm>
            <a:off x="4158221" y="226041"/>
            <a:ext cx="38734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ADS Simulations</a:t>
            </a:r>
          </a:p>
        </p:txBody>
      </p:sp>
      <p:pic>
        <p:nvPicPr>
          <p:cNvPr id="4" name="Picture 3" descr="A graph of a function&#10;&#10;AI-generated content may be incorrect.">
            <a:extLst>
              <a:ext uri="{FF2B5EF4-FFF2-40B4-BE49-F238E27FC236}">
                <a16:creationId xmlns:a16="http://schemas.microsoft.com/office/drawing/2014/main" id="{59B64855-074D-9BB7-DA02-58B34ED68E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403638"/>
            <a:ext cx="7772400" cy="523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480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F84EF-5AB3-27AC-B9F9-9297F2EE9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38C0E303-FFE2-C363-8655-75732B6C0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13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2592052-EE0D-A64C-C657-4B98B4A515B4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FC5AA1-5357-EB6F-94F8-4E9A6B731B31}"/>
              </a:ext>
            </a:extLst>
          </p:cNvPr>
          <p:cNvSpPr txBox="1"/>
          <p:nvPr/>
        </p:nvSpPr>
        <p:spPr>
          <a:xfrm>
            <a:off x="4282453" y="214748"/>
            <a:ext cx="38734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ADS Simulations</a:t>
            </a:r>
          </a:p>
        </p:txBody>
      </p:sp>
      <p:pic>
        <p:nvPicPr>
          <p:cNvPr id="4" name="Picture 3" descr="A graph with a blue line&#10;&#10;AI-generated content may be incorrect.">
            <a:extLst>
              <a:ext uri="{FF2B5EF4-FFF2-40B4-BE49-F238E27FC236}">
                <a16:creationId xmlns:a16="http://schemas.microsoft.com/office/drawing/2014/main" id="{736A4D3A-9497-4E60-EBC5-0FF683ECC6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322" y="1207799"/>
            <a:ext cx="8421356" cy="547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679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F673-C0C8-F7C3-7875-2A8A04520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7C7794A4-F6FD-0260-5AF1-580CBBFCA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13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3BC364E-9FB0-3E16-205E-76A836046740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6D8F05-81B0-06DB-68AC-F55F7761C8D8}"/>
              </a:ext>
            </a:extLst>
          </p:cNvPr>
          <p:cNvSpPr txBox="1"/>
          <p:nvPr/>
        </p:nvSpPr>
        <p:spPr>
          <a:xfrm>
            <a:off x="4282453" y="214748"/>
            <a:ext cx="38734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ADS Simulations</a:t>
            </a:r>
          </a:p>
        </p:txBody>
      </p:sp>
      <p:pic>
        <p:nvPicPr>
          <p:cNvPr id="5" name="Picture 4" descr="A graph with a blue line&#10;&#10;AI-generated content may be incorrect.">
            <a:extLst>
              <a:ext uri="{FF2B5EF4-FFF2-40B4-BE49-F238E27FC236}">
                <a16:creationId xmlns:a16="http://schemas.microsoft.com/office/drawing/2014/main" id="{56A85B38-C16B-16F8-88B8-D84B8B4FD6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246800"/>
            <a:ext cx="8534400" cy="56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952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61E78-6775-1086-4333-A11370A5F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806AB503-0F5F-C538-3A94-C28104191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13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87584D-80A4-A018-1D82-7BF9580F6F2F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3294C3-A723-5D87-F728-701FEFED1A01}"/>
              </a:ext>
            </a:extLst>
          </p:cNvPr>
          <p:cNvSpPr txBox="1"/>
          <p:nvPr/>
        </p:nvSpPr>
        <p:spPr>
          <a:xfrm>
            <a:off x="3728423" y="215444"/>
            <a:ext cx="47330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MATLAB Simulations</a:t>
            </a:r>
          </a:p>
        </p:txBody>
      </p:sp>
      <p:pic>
        <p:nvPicPr>
          <p:cNvPr id="5" name="Picture 4" descr="A graph with red dots&#10;&#10;AI-generated content may be incorrect.">
            <a:extLst>
              <a:ext uri="{FF2B5EF4-FFF2-40B4-BE49-F238E27FC236}">
                <a16:creationId xmlns:a16="http://schemas.microsoft.com/office/drawing/2014/main" id="{5AE39E31-2F48-091C-ACCF-A8721EAD7E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8747" y="1384756"/>
            <a:ext cx="5192441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588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6002F-6F1F-F0D2-3505-4131E015F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F16854AD-3BA0-FA42-D9A0-CD5FCB00F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13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AEA6198-DBA0-E4C4-875E-E059C20CDE3D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BDA34B-837A-8E7B-CE97-0EB96B3CAE84}"/>
              </a:ext>
            </a:extLst>
          </p:cNvPr>
          <p:cNvSpPr txBox="1"/>
          <p:nvPr/>
        </p:nvSpPr>
        <p:spPr>
          <a:xfrm>
            <a:off x="4282453" y="214748"/>
            <a:ext cx="38734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ADS Simulations</a:t>
            </a:r>
          </a:p>
        </p:txBody>
      </p:sp>
      <p:pic>
        <p:nvPicPr>
          <p:cNvPr id="5" name="Picture 4" descr="A graph with a blue line&#10;&#10;AI-generated content may be incorrect.">
            <a:extLst>
              <a:ext uri="{FF2B5EF4-FFF2-40B4-BE49-F238E27FC236}">
                <a16:creationId xmlns:a16="http://schemas.microsoft.com/office/drawing/2014/main" id="{F63C6250-B4DA-7643-66FB-F03C972C47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0184" y="1188623"/>
            <a:ext cx="8611631" cy="547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3963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330E9-8577-F3CD-72B5-CEA30A3F9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5304CEB1-AD39-FAAD-F791-BBDA3398D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13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907ABE-DB82-CE6D-8561-62260A01C37A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28B4DB-B7CE-499F-D734-C447FDEB468D}"/>
              </a:ext>
            </a:extLst>
          </p:cNvPr>
          <p:cNvSpPr txBox="1"/>
          <p:nvPr/>
        </p:nvSpPr>
        <p:spPr>
          <a:xfrm>
            <a:off x="3122520" y="215444"/>
            <a:ext cx="6217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ADS &amp; MATLAB Simulations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216648-D14C-8F26-3EE8-6E12D190CA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68" y="1182687"/>
            <a:ext cx="10896600" cy="567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123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D86EF-4FBE-B4E1-BDD2-1F624F69D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707F13A6-35F7-CAF0-9B02-2390AFAC8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13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1E732C-6DDF-195A-DAB5-E04C922601A3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571030-3409-4A3C-96FF-B5FD24890841}"/>
              </a:ext>
            </a:extLst>
          </p:cNvPr>
          <p:cNvSpPr txBox="1"/>
          <p:nvPr/>
        </p:nvSpPr>
        <p:spPr>
          <a:xfrm>
            <a:off x="3728423" y="215444"/>
            <a:ext cx="47330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MATLAB Simulations</a:t>
            </a:r>
          </a:p>
        </p:txBody>
      </p:sp>
      <p:pic>
        <p:nvPicPr>
          <p:cNvPr id="4" name="Picture 3" descr="A graph with red dots&#10;&#10;AI-generated content may be incorrect.">
            <a:extLst>
              <a:ext uri="{FF2B5EF4-FFF2-40B4-BE49-F238E27FC236}">
                <a16:creationId xmlns:a16="http://schemas.microsoft.com/office/drawing/2014/main" id="{10C1A036-44A8-0C14-0352-FC8F6AD330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779" y="1384756"/>
            <a:ext cx="5192441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6971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E10DD-8760-2A38-51C8-92A90EC73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DF347F5D-F879-01A6-3A9F-EFF4333A1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13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18BC9A-29EF-0EA5-27D9-722A8C9B70A2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4EB93A-3D7D-1605-CB03-7FD59B608C10}"/>
              </a:ext>
            </a:extLst>
          </p:cNvPr>
          <p:cNvSpPr txBox="1"/>
          <p:nvPr/>
        </p:nvSpPr>
        <p:spPr>
          <a:xfrm>
            <a:off x="3728423" y="215444"/>
            <a:ext cx="47330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MATLAB Simulations</a:t>
            </a:r>
          </a:p>
        </p:txBody>
      </p:sp>
      <p:pic>
        <p:nvPicPr>
          <p:cNvPr id="5" name="Picture 4" descr="A graph with red dots&#10;&#10;AI-generated content may be incorrect.">
            <a:extLst>
              <a:ext uri="{FF2B5EF4-FFF2-40B4-BE49-F238E27FC236}">
                <a16:creationId xmlns:a16="http://schemas.microsoft.com/office/drawing/2014/main" id="{50F879BA-7E8C-7F2A-0AAF-289EF3AC6E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8747" y="1384756"/>
            <a:ext cx="5192441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0035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0352A-3D5E-8A50-E263-924C94AD6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411D601F-FE99-CAE2-A615-3DF2DF7E97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41" b="82104"/>
          <a:stretch/>
        </p:blipFill>
        <p:spPr>
          <a:xfrm>
            <a:off x="2060" y="-14306"/>
            <a:ext cx="12189940" cy="9785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BE7526-C81D-D71B-19A6-4324623700A1}"/>
              </a:ext>
            </a:extLst>
          </p:cNvPr>
          <p:cNvSpPr txBox="1"/>
          <p:nvPr/>
        </p:nvSpPr>
        <p:spPr>
          <a:xfrm>
            <a:off x="10134600" y="474948"/>
            <a:ext cx="1839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cs typeface="Times New Roman"/>
              </a:rPr>
              <a:t>Steven Placzek</a:t>
            </a:r>
            <a:endParaRPr lang="en-US" sz="200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B37294A-15DB-6C58-5137-26E211ACBE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1901" y="2819400"/>
            <a:ext cx="7047298" cy="2297043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dirty="0"/>
              <a:t>Additional Material Submitted to Kodiak:</a:t>
            </a:r>
            <a:br>
              <a:rPr lang="en-US" sz="3200" dirty="0"/>
            </a:br>
            <a:r>
              <a:rPr lang="en-US" sz="3200" dirty="0"/>
              <a:t>- Excel</a:t>
            </a:r>
            <a:br>
              <a:rPr lang="en-US" sz="3200" dirty="0"/>
            </a:br>
            <a:r>
              <a:rPr lang="en-US" sz="3200" dirty="0"/>
              <a:t>- </a:t>
            </a:r>
            <a:r>
              <a:rPr lang="en-US" sz="3200" dirty="0" err="1"/>
              <a:t>Matlab</a:t>
            </a:r>
            <a:r>
              <a:rPr lang="en-US" sz="3200" dirty="0"/>
              <a:t> Code</a:t>
            </a:r>
            <a:br>
              <a:rPr lang="en-US" sz="3200" dirty="0"/>
            </a:br>
            <a:r>
              <a:rPr lang="en-US" sz="3200" dirty="0"/>
              <a:t>- ADS Files</a:t>
            </a:r>
            <a:br>
              <a:rPr lang="en-US" sz="3200" dirty="0"/>
            </a:br>
            <a:r>
              <a:rPr lang="en-US" sz="3200" dirty="0"/>
              <a:t>- Scans / Screenshots</a:t>
            </a:r>
            <a:endParaRPr lang="en-US" sz="3200" b="1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3D8C6B-9641-9EC2-62F2-B29CFDD5F775}"/>
              </a:ext>
            </a:extLst>
          </p:cNvPr>
          <p:cNvSpPr txBox="1"/>
          <p:nvPr/>
        </p:nvSpPr>
        <p:spPr>
          <a:xfrm>
            <a:off x="3205144" y="1905000"/>
            <a:ext cx="57817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ea typeface="+mj-lt"/>
                <a:cs typeface="+mj-lt"/>
              </a:rPr>
              <a:t>End of Design Project 3 Presentation</a:t>
            </a:r>
            <a:endParaRPr lang="en-US" sz="2800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87F479-F82C-EB03-AC4D-07288240362E}"/>
              </a:ext>
            </a:extLst>
          </p:cNvPr>
          <p:cNvSpPr txBox="1"/>
          <p:nvPr/>
        </p:nvSpPr>
        <p:spPr>
          <a:xfrm>
            <a:off x="-15240" y="-48272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3</a:t>
            </a:r>
          </a:p>
        </p:txBody>
      </p:sp>
    </p:spTree>
    <p:extLst>
      <p:ext uri="{BB962C8B-B14F-4D97-AF65-F5344CB8AC3E}">
        <p14:creationId xmlns:p14="http://schemas.microsoft.com/office/powerpoint/2010/main" val="21028179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E4ED6-09D8-459C-D983-5A2416AE7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4E4B533-B948-0863-1FBE-02086123E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8111" y="3124940"/>
            <a:ext cx="1215777" cy="608119"/>
          </a:xfrm>
        </p:spPr>
        <p:txBody>
          <a:bodyPr>
            <a:normAutofit/>
          </a:bodyPr>
          <a:lstStyle/>
          <a:p>
            <a:pPr algn="l"/>
            <a:r>
              <a:rPr lang="en-US" sz="3200" b="1" i="1" dirty="0"/>
              <a:t>END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253E30-4F83-AA18-93A2-E6797CD9FA45}"/>
              </a:ext>
            </a:extLst>
          </p:cNvPr>
          <p:cNvSpPr txBox="1"/>
          <p:nvPr/>
        </p:nvSpPr>
        <p:spPr>
          <a:xfrm>
            <a:off x="0" y="0"/>
            <a:ext cx="2512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</p:txBody>
      </p:sp>
    </p:spTree>
    <p:extLst>
      <p:ext uri="{BB962C8B-B14F-4D97-AF65-F5344CB8AC3E}">
        <p14:creationId xmlns:p14="http://schemas.microsoft.com/office/powerpoint/2010/main" val="8180562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99FEF-155F-5C16-0912-F70F473D7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CA0F68EA-1FB9-2ACF-63A9-A5A1F39D49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41" b="82104"/>
          <a:stretch/>
        </p:blipFill>
        <p:spPr>
          <a:xfrm>
            <a:off x="-1" y="0"/>
            <a:ext cx="12189940" cy="97850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3813923-983B-CE7D-10F0-8E2F04FE09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4483" y="185194"/>
            <a:ext cx="6200972" cy="608119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dirty="0"/>
              <a:t>Appendix I — Excel Spreadsheets</a:t>
            </a:r>
            <a:endParaRPr lang="en-US" sz="3200" b="1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9390D1-0D80-31B3-3572-28E9BBF3B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67" y="1898893"/>
            <a:ext cx="11868665" cy="30602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1FC5CF-9C1D-662E-E2D7-D9DD9FBBE7DD}"/>
              </a:ext>
            </a:extLst>
          </p:cNvPr>
          <p:cNvSpPr txBox="1"/>
          <p:nvPr/>
        </p:nvSpPr>
        <p:spPr>
          <a:xfrm>
            <a:off x="0" y="0"/>
            <a:ext cx="2512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</p:txBody>
      </p:sp>
    </p:spTree>
    <p:extLst>
      <p:ext uri="{BB962C8B-B14F-4D97-AF65-F5344CB8AC3E}">
        <p14:creationId xmlns:p14="http://schemas.microsoft.com/office/powerpoint/2010/main" val="6929867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CE4E0-C7AF-C8CD-0567-4F3DDA529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8C152104-1411-BAC5-8609-496B137A8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5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B064465-707A-CDA6-15E5-17DCB11C9F92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850104-EC8E-9D50-721E-F0C4BE24C476}"/>
              </a:ext>
            </a:extLst>
          </p:cNvPr>
          <p:cNvSpPr txBox="1"/>
          <p:nvPr/>
        </p:nvSpPr>
        <p:spPr>
          <a:xfrm>
            <a:off x="3382366" y="607565"/>
            <a:ext cx="54252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Simulation Comparison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17BAA6-E1F4-FBAA-C809-4D46229FB409}"/>
              </a:ext>
            </a:extLst>
          </p:cNvPr>
          <p:cNvSpPr txBox="1"/>
          <p:nvPr/>
        </p:nvSpPr>
        <p:spPr>
          <a:xfrm>
            <a:off x="862893" y="2345932"/>
            <a:ext cx="10464147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This LNA configuration succeeded in meeting all the specifications which the design required.</a:t>
            </a:r>
          </a:p>
          <a:p>
            <a:endParaRPr lang="en-US" sz="2000" dirty="0"/>
          </a:p>
          <a:p>
            <a:r>
              <a:rPr lang="en-US" sz="2000" dirty="0"/>
              <a:t>Both the MATLAB and the ADS simulations provide the same values for the LNA.</a:t>
            </a:r>
          </a:p>
          <a:p>
            <a:endParaRPr lang="en-US" sz="2000" dirty="0"/>
          </a:p>
          <a:p>
            <a:r>
              <a:rPr lang="en-US" sz="2000" dirty="0"/>
              <a:t>MATLAB and ADS provided simulated values  for the parameters listed in table 1, </a:t>
            </a:r>
          </a:p>
          <a:p>
            <a:r>
              <a:rPr lang="en-US" sz="2000" dirty="0"/>
              <a:t>these values are essentially the same, showing an excellent match:</a:t>
            </a:r>
          </a:p>
          <a:p>
            <a:r>
              <a:rPr lang="en-US" sz="2000" dirty="0"/>
              <a:t>	— there is less than a 0.0001 percent difference between MATLAB and ADS values.</a:t>
            </a:r>
          </a:p>
          <a:p>
            <a:endParaRPr lang="en-US" sz="2000" dirty="0"/>
          </a:p>
          <a:p>
            <a:r>
              <a:rPr lang="en-US" sz="2000" dirty="0"/>
              <a:t>The noise figure could be lower, however overall gain provided by this design </a:t>
            </a:r>
          </a:p>
          <a:p>
            <a:r>
              <a:rPr lang="en-US" sz="2000" dirty="0"/>
              <a:t>isn’t as lacking as many of the other designs solutions which were considered before this one.</a:t>
            </a:r>
          </a:p>
        </p:txBody>
      </p:sp>
    </p:spTree>
    <p:extLst>
      <p:ext uri="{BB962C8B-B14F-4D97-AF65-F5344CB8AC3E}">
        <p14:creationId xmlns:p14="http://schemas.microsoft.com/office/powerpoint/2010/main" val="2561526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917d96e-c649-4af1-abec-39eda19a164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456C66F71DFB49941FD741C828F641" ma:contentTypeVersion="13" ma:contentTypeDescription="Create a new document." ma:contentTypeScope="" ma:versionID="ed06921c1aed1e94f56a94a4c9856aba">
  <xsd:schema xmlns:xsd="http://www.w3.org/2001/XMLSchema" xmlns:xs="http://www.w3.org/2001/XMLSchema" xmlns:p="http://schemas.microsoft.com/office/2006/metadata/properties" xmlns:ns3="2917d96e-c649-4af1-abec-39eda19a1647" xmlns:ns4="a13884e4-6bf8-41fb-9d0f-7f4393c10574" targetNamespace="http://schemas.microsoft.com/office/2006/metadata/properties" ma:root="true" ma:fieldsID="2ab96402eebdeb015cf62eb9c5790020" ns3:_="" ns4:_="">
    <xsd:import namespace="2917d96e-c649-4af1-abec-39eda19a1647"/>
    <xsd:import namespace="a13884e4-6bf8-41fb-9d0f-7f4393c1057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17d96e-c649-4af1-abec-39eda19a16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3884e4-6bf8-41fb-9d0f-7f4393c1057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C96F8CD-BBB8-4C1A-A58C-DE37EB2F8C5B}">
  <ds:schemaRefs>
    <ds:schemaRef ds:uri="http://schemas.microsoft.com/office/2006/metadata/properties"/>
    <ds:schemaRef ds:uri="http://purl.org/dc/elements/1.1/"/>
    <ds:schemaRef ds:uri="a13884e4-6bf8-41fb-9d0f-7f4393c10574"/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2917d96e-c649-4af1-abec-39eda19a1647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255BCBF-6A4A-48E4-AA83-BC4FDBFE85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889695A-2645-4BBA-80F2-0D520C1614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17d96e-c649-4af1-abec-39eda19a1647"/>
    <ds:schemaRef ds:uri="a13884e4-6bf8-41fb-9d0f-7f4393c105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1180</TotalTime>
  <Words>533</Words>
  <Application>Microsoft Macintosh PowerPoint</Application>
  <PresentationFormat>Widescreen</PresentationFormat>
  <Paragraphs>206</Paragraphs>
  <Slides>27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Aptos Narrow</vt:lpstr>
      <vt:lpstr>Arial</vt:lpstr>
      <vt:lpstr>Helvetica</vt:lpstr>
      <vt:lpstr>Times New Roman</vt:lpstr>
      <vt:lpstr>Office Theme</vt:lpstr>
      <vt:lpstr>Design Project 3 </vt:lpstr>
      <vt:lpstr>PowerPoint Presentation</vt:lpstr>
      <vt:lpstr>PowerPoint Presentation</vt:lpstr>
      <vt:lpstr>PowerPoint Presentation</vt:lpstr>
      <vt:lpstr>ADS Schematic of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Additional Material Submitted to Kodiak: - Excel - Matlab Code - ADS Files - Scans / Screenshots</vt:lpstr>
      <vt:lpstr>END</vt:lpstr>
      <vt:lpstr>Appendix I — Excel Spreadsheets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01</dc:title>
  <dc:creator>Joseph Connor</dc:creator>
  <cp:lastModifiedBy>Steven Placzek</cp:lastModifiedBy>
  <cp:revision>486</cp:revision>
  <dcterms:created xsi:type="dcterms:W3CDTF">2024-09-03T02:12:47Z</dcterms:created>
  <dcterms:modified xsi:type="dcterms:W3CDTF">2026-01-18T12:34:13Z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0x01010078456C66F71DFB49941FD741C828F641</vt:lpwstr>
  </property>
  <property fmtid="{D5CDD505-2E9C-101B-9397-08002B2CF9AE}" pid="3" name="MSIP_Label_cc4f9dd6-a4b8-4763-a61d-db8d0cf51108_ActionId">
    <vt:lpwstr>5f814cfd-8792-4c9b-92cb-e19e562b55a4</vt:lpwstr>
  </property>
  <property fmtid="{D5CDD505-2E9C-101B-9397-08002B2CF9AE}" pid="4" name="MSIP_Label_cc4f9dd6-a4b8-4763-a61d-db8d0cf51108_Enabled">
    <vt:lpwstr>true</vt:lpwstr>
  </property>
  <property fmtid="{D5CDD505-2E9C-101B-9397-08002B2CF9AE}" pid="5" name="MSIP_Label_cc4f9dd6-a4b8-4763-a61d-db8d0cf51108_Name">
    <vt:lpwstr>defa4170-0d19-0005-0004-bc88714345d2</vt:lpwstr>
  </property>
  <property fmtid="{D5CDD505-2E9C-101B-9397-08002B2CF9AE}" pid="6" name="MSIP_Label_cc4f9dd6-a4b8-4763-a61d-db8d0cf51108_SiteId">
    <vt:lpwstr>b5a5796f-19a9-493f-9cb2-7a88b4e9b123</vt:lpwstr>
  </property>
  <property fmtid="{D5CDD505-2E9C-101B-9397-08002B2CF9AE}" pid="7" name="MSIP_Label_cc4f9dd6-a4b8-4763-a61d-db8d0cf51108_Method">
    <vt:lpwstr>Standard</vt:lpwstr>
  </property>
  <property fmtid="{D5CDD505-2E9C-101B-9397-08002B2CF9AE}" pid="8" name="MSIP_Label_cc4f9dd6-a4b8-4763-a61d-db8d0cf51108_SetDate">
    <vt:lpwstr>2024-09-09T12:51:00Z</vt:lpwstr>
  </property>
  <property fmtid="{D5CDD505-2E9C-101B-9397-08002B2CF9AE}" pid="9" name="MSIP_Label_cc4f9dd6-a4b8-4763-a61d-db8d0cf51108_ContentBits">
    <vt:lpwstr>0</vt:lpwstr>
  </property>
</Properties>
</file>